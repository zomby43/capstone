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Canva Sans Italics" panose="020B0604020202020204" charset="0"/>
      <p:regular r:id="rId16"/>
    </p:embeddedFont>
    <p:embeddedFont>
      <p:font typeface="Heading Now 71-78" panose="020B0604020202020204" charset="0"/>
      <p:regular r:id="rId17"/>
    </p:embeddedFont>
    <p:embeddedFont>
      <p:font typeface="Heading Now 71-78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66D"/>
    <a:srgbClr val="3E9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7259" autoAdjust="0"/>
  </p:normalViewPr>
  <p:slideViewPr>
    <p:cSldViewPr>
      <p:cViewPr varScale="1">
        <p:scale>
          <a:sx n="106" d="100"/>
          <a:sy n="106" d="100"/>
        </p:scale>
        <p:origin x="35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14FC5-02D6-4AE7-97CC-91F9592FD9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752086-3A09-4FB9-8D44-15B61BE87550}">
      <dgm:prSet/>
      <dgm:spPr>
        <a:solidFill>
          <a:srgbClr val="24566D"/>
        </a:solidFill>
        <a:ln>
          <a:solidFill>
            <a:srgbClr val="3E969B"/>
          </a:solidFill>
        </a:ln>
      </dgm:spPr>
      <dgm:t>
        <a:bodyPr/>
        <a:lstStyle/>
        <a:p>
          <a:r>
            <a:rPr lang="es-CL" b="1"/>
            <a:t>Vecinos / Socios</a:t>
          </a:r>
          <a:r>
            <a:rPr lang="es-CL"/>
            <a:t>: trámites, certificados, participación en actividades y proyectos.</a:t>
          </a:r>
          <a:endParaRPr lang="en-US"/>
        </a:p>
      </dgm:t>
    </dgm:pt>
    <dgm:pt modelId="{FF2CDC20-C94C-430E-AA3C-E6ADD76317FF}" type="parTrans" cxnId="{644E193C-2304-4CA0-BBD7-BC94031AAEB7}">
      <dgm:prSet/>
      <dgm:spPr/>
      <dgm:t>
        <a:bodyPr/>
        <a:lstStyle/>
        <a:p>
          <a:endParaRPr lang="en-US"/>
        </a:p>
      </dgm:t>
    </dgm:pt>
    <dgm:pt modelId="{0355D706-57E8-423C-BB23-EF2C09E6C8B6}" type="sibTrans" cxnId="{644E193C-2304-4CA0-BBD7-BC94031AAEB7}">
      <dgm:prSet/>
      <dgm:spPr/>
      <dgm:t>
        <a:bodyPr/>
        <a:lstStyle/>
        <a:p>
          <a:endParaRPr lang="en-US"/>
        </a:p>
      </dgm:t>
    </dgm:pt>
    <dgm:pt modelId="{A89BDE41-F108-4F1A-9BA3-4375AB707D1F}">
      <dgm:prSet/>
      <dgm:spPr>
        <a:solidFill>
          <a:srgbClr val="24566D"/>
        </a:solidFill>
        <a:ln>
          <a:solidFill>
            <a:srgbClr val="3E969B"/>
          </a:solidFill>
        </a:ln>
      </dgm:spPr>
      <dgm:t>
        <a:bodyPr/>
        <a:lstStyle/>
        <a:p>
          <a:r>
            <a:rPr lang="es-CL" b="1"/>
            <a:t>Secretaría de la Junta:</a:t>
          </a:r>
          <a:r>
            <a:rPr lang="es-CL"/>
            <a:t> gestión de solicitudes, documentos, comunicados.</a:t>
          </a:r>
          <a:endParaRPr lang="en-US"/>
        </a:p>
      </dgm:t>
    </dgm:pt>
    <dgm:pt modelId="{27D654BA-ECD0-437E-9277-6BABF01AEE0D}" type="parTrans" cxnId="{6FE60BAD-E457-4588-8B1F-65F22CDA11CE}">
      <dgm:prSet/>
      <dgm:spPr/>
      <dgm:t>
        <a:bodyPr/>
        <a:lstStyle/>
        <a:p>
          <a:endParaRPr lang="en-US"/>
        </a:p>
      </dgm:t>
    </dgm:pt>
    <dgm:pt modelId="{B39FF726-B411-47D0-B794-D0461AB7097C}" type="sibTrans" cxnId="{6FE60BAD-E457-4588-8B1F-65F22CDA11CE}">
      <dgm:prSet/>
      <dgm:spPr/>
      <dgm:t>
        <a:bodyPr/>
        <a:lstStyle/>
        <a:p>
          <a:endParaRPr lang="en-US"/>
        </a:p>
      </dgm:t>
    </dgm:pt>
    <dgm:pt modelId="{1430EF16-E48F-41B0-B82C-F6BFCBC889BD}">
      <dgm:prSet/>
      <dgm:spPr>
        <a:solidFill>
          <a:srgbClr val="24566D"/>
        </a:solidFill>
        <a:ln>
          <a:solidFill>
            <a:srgbClr val="3E969B"/>
          </a:solidFill>
        </a:ln>
      </dgm:spPr>
      <dgm:t>
        <a:bodyPr/>
        <a:lstStyle/>
        <a:p>
          <a:r>
            <a:rPr lang="es-CL" b="1" dirty="0"/>
            <a:t>Directiva / </a:t>
          </a:r>
          <a:r>
            <a:rPr lang="es-CL" b="1" dirty="0" err="1"/>
            <a:t>Admin</a:t>
          </a:r>
          <a:r>
            <a:rPr lang="es-CL" dirty="0"/>
            <a:t>: administración global, usuarios, reportes, configuración.</a:t>
          </a:r>
          <a:endParaRPr lang="en-US" dirty="0"/>
        </a:p>
      </dgm:t>
    </dgm:pt>
    <dgm:pt modelId="{BB63F0A2-DA18-4616-B5DD-DE6C037448FB}" type="parTrans" cxnId="{3AA34B22-2D20-42F9-96BB-4855D2FAA4ED}">
      <dgm:prSet/>
      <dgm:spPr/>
      <dgm:t>
        <a:bodyPr/>
        <a:lstStyle/>
        <a:p>
          <a:endParaRPr lang="en-US"/>
        </a:p>
      </dgm:t>
    </dgm:pt>
    <dgm:pt modelId="{17277456-5F30-4F67-B595-092454B049E9}" type="sibTrans" cxnId="{3AA34B22-2D20-42F9-96BB-4855D2FAA4ED}">
      <dgm:prSet/>
      <dgm:spPr/>
      <dgm:t>
        <a:bodyPr/>
        <a:lstStyle/>
        <a:p>
          <a:endParaRPr lang="en-US"/>
        </a:p>
      </dgm:t>
    </dgm:pt>
    <dgm:pt modelId="{89CD2805-4BE7-4BFA-A6DC-87E76B1A1CDE}" type="pres">
      <dgm:prSet presAssocID="{6D614FC5-02D6-4AE7-97CC-91F9592FD9B0}" presName="linear" presStyleCnt="0">
        <dgm:presLayoutVars>
          <dgm:animLvl val="lvl"/>
          <dgm:resizeHandles val="exact"/>
        </dgm:presLayoutVars>
      </dgm:prSet>
      <dgm:spPr/>
    </dgm:pt>
    <dgm:pt modelId="{4056663A-B0DB-4DC1-AB0F-FD725174DF0D}" type="pres">
      <dgm:prSet presAssocID="{4A752086-3A09-4FB9-8D44-15B61BE875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58D9D0D-E8EA-4B79-B28A-148F8D044CEC}" type="pres">
      <dgm:prSet presAssocID="{0355D706-57E8-423C-BB23-EF2C09E6C8B6}" presName="spacer" presStyleCnt="0"/>
      <dgm:spPr/>
    </dgm:pt>
    <dgm:pt modelId="{A02CB026-739F-4792-A39B-DCD201FF3D98}" type="pres">
      <dgm:prSet presAssocID="{A89BDE41-F108-4F1A-9BA3-4375AB707D1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4CB752F-984A-43D1-A117-733A0E19EB51}" type="pres">
      <dgm:prSet presAssocID="{B39FF726-B411-47D0-B794-D0461AB7097C}" presName="spacer" presStyleCnt="0"/>
      <dgm:spPr/>
    </dgm:pt>
    <dgm:pt modelId="{1EAF8763-BBCB-4A83-B0AB-7479441E1F55}" type="pres">
      <dgm:prSet presAssocID="{1430EF16-E48F-41B0-B82C-F6BFCBC889B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BC9420-5C7E-4239-9446-C2544FFCD273}" type="presOf" srcId="{4A752086-3A09-4FB9-8D44-15B61BE87550}" destId="{4056663A-B0DB-4DC1-AB0F-FD725174DF0D}" srcOrd="0" destOrd="0" presId="urn:microsoft.com/office/officeart/2005/8/layout/vList2"/>
    <dgm:cxn modelId="{3AA34B22-2D20-42F9-96BB-4855D2FAA4ED}" srcId="{6D614FC5-02D6-4AE7-97CC-91F9592FD9B0}" destId="{1430EF16-E48F-41B0-B82C-F6BFCBC889BD}" srcOrd="2" destOrd="0" parTransId="{BB63F0A2-DA18-4616-B5DD-DE6C037448FB}" sibTransId="{17277456-5F30-4F67-B595-092454B049E9}"/>
    <dgm:cxn modelId="{644E193C-2304-4CA0-BBD7-BC94031AAEB7}" srcId="{6D614FC5-02D6-4AE7-97CC-91F9592FD9B0}" destId="{4A752086-3A09-4FB9-8D44-15B61BE87550}" srcOrd="0" destOrd="0" parTransId="{FF2CDC20-C94C-430E-AA3C-E6ADD76317FF}" sibTransId="{0355D706-57E8-423C-BB23-EF2C09E6C8B6}"/>
    <dgm:cxn modelId="{ACE6965F-A1BB-41C0-A1A3-B1932E6F95E1}" type="presOf" srcId="{6D614FC5-02D6-4AE7-97CC-91F9592FD9B0}" destId="{89CD2805-4BE7-4BFA-A6DC-87E76B1A1CDE}" srcOrd="0" destOrd="0" presId="urn:microsoft.com/office/officeart/2005/8/layout/vList2"/>
    <dgm:cxn modelId="{6FE60BAD-E457-4588-8B1F-65F22CDA11CE}" srcId="{6D614FC5-02D6-4AE7-97CC-91F9592FD9B0}" destId="{A89BDE41-F108-4F1A-9BA3-4375AB707D1F}" srcOrd="1" destOrd="0" parTransId="{27D654BA-ECD0-437E-9277-6BABF01AEE0D}" sibTransId="{B39FF726-B411-47D0-B794-D0461AB7097C}"/>
    <dgm:cxn modelId="{065B4FE0-F734-40B2-85A7-691AFA8AB4CD}" type="presOf" srcId="{1430EF16-E48F-41B0-B82C-F6BFCBC889BD}" destId="{1EAF8763-BBCB-4A83-B0AB-7479441E1F55}" srcOrd="0" destOrd="0" presId="urn:microsoft.com/office/officeart/2005/8/layout/vList2"/>
    <dgm:cxn modelId="{E75C51E0-62EB-4BBF-93D6-CD9AAB6DB1FD}" type="presOf" srcId="{A89BDE41-F108-4F1A-9BA3-4375AB707D1F}" destId="{A02CB026-739F-4792-A39B-DCD201FF3D98}" srcOrd="0" destOrd="0" presId="urn:microsoft.com/office/officeart/2005/8/layout/vList2"/>
    <dgm:cxn modelId="{5C563EB4-E3D9-4F2F-874D-2B282F42F0A0}" type="presParOf" srcId="{89CD2805-4BE7-4BFA-A6DC-87E76B1A1CDE}" destId="{4056663A-B0DB-4DC1-AB0F-FD725174DF0D}" srcOrd="0" destOrd="0" presId="urn:microsoft.com/office/officeart/2005/8/layout/vList2"/>
    <dgm:cxn modelId="{F4575B14-FE72-44B7-A43B-8FC6354726B5}" type="presParOf" srcId="{89CD2805-4BE7-4BFA-A6DC-87E76B1A1CDE}" destId="{658D9D0D-E8EA-4B79-B28A-148F8D044CEC}" srcOrd="1" destOrd="0" presId="urn:microsoft.com/office/officeart/2005/8/layout/vList2"/>
    <dgm:cxn modelId="{28BACECD-7B35-4F20-80D4-038A4252DD08}" type="presParOf" srcId="{89CD2805-4BE7-4BFA-A6DC-87E76B1A1CDE}" destId="{A02CB026-739F-4792-A39B-DCD201FF3D98}" srcOrd="2" destOrd="0" presId="urn:microsoft.com/office/officeart/2005/8/layout/vList2"/>
    <dgm:cxn modelId="{7AED5495-A3DC-4CB5-AC6C-41A24634E592}" type="presParOf" srcId="{89CD2805-4BE7-4BFA-A6DC-87E76B1A1CDE}" destId="{64CB752F-984A-43D1-A117-733A0E19EB51}" srcOrd="3" destOrd="0" presId="urn:microsoft.com/office/officeart/2005/8/layout/vList2"/>
    <dgm:cxn modelId="{731AF1C6-FC65-46BF-BEB3-13D8985D8C76}" type="presParOf" srcId="{89CD2805-4BE7-4BFA-A6DC-87E76B1A1CDE}" destId="{1EAF8763-BBCB-4A83-B0AB-7479441E1F5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6663A-B0DB-4DC1-AB0F-FD725174DF0D}">
      <dsp:nvSpPr>
        <dsp:cNvPr id="0" name=""/>
        <dsp:cNvSpPr/>
      </dsp:nvSpPr>
      <dsp:spPr>
        <a:xfrm>
          <a:off x="0" y="323178"/>
          <a:ext cx="8941253" cy="1591200"/>
        </a:xfrm>
        <a:prstGeom prst="roundRect">
          <a:avLst/>
        </a:prstGeom>
        <a:solidFill>
          <a:srgbClr val="24566D"/>
        </a:solidFill>
        <a:ln w="25400" cap="flat" cmpd="sng" algn="ctr">
          <a:solidFill>
            <a:srgbClr val="3E969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4000" b="1" kern="1200"/>
            <a:t>Vecinos / Socios</a:t>
          </a:r>
          <a:r>
            <a:rPr lang="es-CL" sz="4000" kern="1200"/>
            <a:t>: trámites, certificados, participación en actividades y proyectos.</a:t>
          </a:r>
          <a:endParaRPr lang="en-US" sz="4000" kern="1200"/>
        </a:p>
      </dsp:txBody>
      <dsp:txXfrm>
        <a:off x="77676" y="400854"/>
        <a:ext cx="8785901" cy="1435848"/>
      </dsp:txXfrm>
    </dsp:sp>
    <dsp:sp modelId="{A02CB026-739F-4792-A39B-DCD201FF3D98}">
      <dsp:nvSpPr>
        <dsp:cNvPr id="0" name=""/>
        <dsp:cNvSpPr/>
      </dsp:nvSpPr>
      <dsp:spPr>
        <a:xfrm>
          <a:off x="0" y="2029578"/>
          <a:ext cx="8941253" cy="1591200"/>
        </a:xfrm>
        <a:prstGeom prst="roundRect">
          <a:avLst/>
        </a:prstGeom>
        <a:solidFill>
          <a:srgbClr val="24566D"/>
        </a:solidFill>
        <a:ln w="25400" cap="flat" cmpd="sng" algn="ctr">
          <a:solidFill>
            <a:srgbClr val="3E969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4000" b="1" kern="1200"/>
            <a:t>Secretaría de la Junta:</a:t>
          </a:r>
          <a:r>
            <a:rPr lang="es-CL" sz="4000" kern="1200"/>
            <a:t> gestión de solicitudes, documentos, comunicados.</a:t>
          </a:r>
          <a:endParaRPr lang="en-US" sz="4000" kern="1200"/>
        </a:p>
      </dsp:txBody>
      <dsp:txXfrm>
        <a:off x="77676" y="2107254"/>
        <a:ext cx="8785901" cy="1435848"/>
      </dsp:txXfrm>
    </dsp:sp>
    <dsp:sp modelId="{1EAF8763-BBCB-4A83-B0AB-7479441E1F55}">
      <dsp:nvSpPr>
        <dsp:cNvPr id="0" name=""/>
        <dsp:cNvSpPr/>
      </dsp:nvSpPr>
      <dsp:spPr>
        <a:xfrm>
          <a:off x="0" y="3735978"/>
          <a:ext cx="8941253" cy="1591200"/>
        </a:xfrm>
        <a:prstGeom prst="roundRect">
          <a:avLst/>
        </a:prstGeom>
        <a:solidFill>
          <a:srgbClr val="24566D"/>
        </a:solidFill>
        <a:ln w="25400" cap="flat" cmpd="sng" algn="ctr">
          <a:solidFill>
            <a:srgbClr val="3E969B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4000" b="1" kern="1200" dirty="0"/>
            <a:t>Directiva / </a:t>
          </a:r>
          <a:r>
            <a:rPr lang="es-CL" sz="4000" b="1" kern="1200" dirty="0" err="1"/>
            <a:t>Admin</a:t>
          </a:r>
          <a:r>
            <a:rPr lang="es-CL" sz="4000" kern="1200" dirty="0"/>
            <a:t>: administración global, usuarios, reportes, configuración.</a:t>
          </a:r>
          <a:endParaRPr lang="en-US" sz="4000" kern="1200" dirty="0"/>
        </a:p>
      </dsp:txBody>
      <dsp:txXfrm>
        <a:off x="77676" y="3813654"/>
        <a:ext cx="8785901" cy="1435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D4C9D-EC84-48C3-AC06-617BEA0BD6EC}" type="datetimeFigureOut">
              <a:rPr lang="es-CL" smtClean="0"/>
              <a:t>28-11-2025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BC9A0-7253-4044-B48B-0C09DE79F9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378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BC9A0-7253-4044-B48B-0C09DE79F987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8297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19.svg"/><Relationship Id="rId7" Type="http://schemas.openxmlformats.org/officeDocument/2006/relationships/diagramData" Target="../diagrams/data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microsoft.com/office/2007/relationships/diagramDrawing" Target="../diagrams/drawing1.xml"/><Relationship Id="rId5" Type="http://schemas.openxmlformats.org/officeDocument/2006/relationships/image" Target="../media/image2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20.png"/><Relationship Id="rId9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3.sv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gif"/><Relationship Id="rId3" Type="http://schemas.openxmlformats.org/officeDocument/2006/relationships/image" Target="../media/image3.svg"/><Relationship Id="rId7" Type="http://schemas.openxmlformats.org/officeDocument/2006/relationships/image" Target="../media/image3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10" Type="http://schemas.openxmlformats.org/officeDocument/2006/relationships/image" Target="../media/image39.gif"/><Relationship Id="rId4" Type="http://schemas.openxmlformats.org/officeDocument/2006/relationships/image" Target="../media/image33.png"/><Relationship Id="rId9" Type="http://schemas.openxmlformats.org/officeDocument/2006/relationships/image" Target="../media/image38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.svg"/><Relationship Id="rId7" Type="http://schemas.openxmlformats.org/officeDocument/2006/relationships/image" Target="../media/image43.svg"/><Relationship Id="rId12" Type="http://schemas.openxmlformats.org/officeDocument/2006/relationships/image" Target="../media/image48.png"/><Relationship Id="rId17" Type="http://schemas.openxmlformats.org/officeDocument/2006/relationships/image" Target="../media/image53.svg"/><Relationship Id="rId2" Type="http://schemas.openxmlformats.org/officeDocument/2006/relationships/image" Target="../media/image2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sv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svg"/><Relationship Id="rId4" Type="http://schemas.openxmlformats.org/officeDocument/2006/relationships/image" Target="../media/image40.png"/><Relationship Id="rId9" Type="http://schemas.openxmlformats.org/officeDocument/2006/relationships/image" Target="../media/image45.svg"/><Relationship Id="rId1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gif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A66">
                <a:alpha val="100000"/>
              </a:srgbClr>
            </a:gs>
            <a:gs pos="100000">
              <a:srgbClr val="1C6D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5801997" y="466239"/>
            <a:ext cx="13734666" cy="9354523"/>
            <a:chOff x="0" y="0"/>
            <a:chExt cx="5475623" cy="37293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4C72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blipFill>
              <a:blip r:embed="rId2"/>
              <a:stretch>
                <a:fillRect t="-22743" b="-24080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383454"/>
            <a:ext cx="11440382" cy="392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02"/>
              </a:lnSpc>
            </a:pPr>
            <a:r>
              <a:rPr lang="es-CL" sz="10202" spc="-204" noProof="0" dirty="0">
                <a:ln w="41275" cap="rnd" cmpd="tri">
                  <a:solidFill>
                    <a:srgbClr val="24566D"/>
                  </a:solidFill>
                </a:ln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   VecindApp Plataforma de Gestión Vecinal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2210217"/>
            <a:ext cx="1283487" cy="1283487"/>
          </a:xfrm>
          <a:custGeom>
            <a:avLst/>
            <a:gdLst/>
            <a:ahLst/>
            <a:cxnLst/>
            <a:rect l="l" t="t" r="r" b="b"/>
            <a:pathLst>
              <a:path w="1283487" h="1283487">
                <a:moveTo>
                  <a:pt x="0" y="0"/>
                </a:moveTo>
                <a:lnTo>
                  <a:pt x="1283487" y="0"/>
                </a:lnTo>
                <a:lnTo>
                  <a:pt x="1283487" y="1283487"/>
                </a:lnTo>
                <a:lnTo>
                  <a:pt x="0" y="1283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Freeform 7"/>
          <p:cNvSpPr/>
          <p:nvPr/>
        </p:nvSpPr>
        <p:spPr>
          <a:xfrm>
            <a:off x="325609" y="165647"/>
            <a:ext cx="3255520" cy="1192334"/>
          </a:xfrm>
          <a:custGeom>
            <a:avLst/>
            <a:gdLst/>
            <a:ahLst/>
            <a:cxnLst/>
            <a:rect l="l" t="t" r="r" b="b"/>
            <a:pathLst>
              <a:path w="3255520" h="1192334">
                <a:moveTo>
                  <a:pt x="0" y="0"/>
                </a:moveTo>
                <a:lnTo>
                  <a:pt x="3255520" y="0"/>
                </a:lnTo>
                <a:lnTo>
                  <a:pt x="3255520" y="1192334"/>
                </a:lnTo>
                <a:lnTo>
                  <a:pt x="0" y="1192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1025136" y="9323908"/>
            <a:ext cx="4578473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s-CL" sz="2100" noProof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02 de Diciembre 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906276"/>
            <a:ext cx="1849339" cy="392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s-CL" sz="2100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Integrantes: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06430" y="7902589"/>
            <a:ext cx="2198970" cy="1268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s-CL" sz="2100" noProof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Diego Arias</a:t>
            </a:r>
          </a:p>
          <a:p>
            <a:pPr algn="just">
              <a:lnSpc>
                <a:spcPts val="3360"/>
              </a:lnSpc>
            </a:pPr>
            <a:r>
              <a:rPr lang="es-CL" sz="2100" noProof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Fabrizzio Riffo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s-CL" sz="2100" noProof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Patricio Infante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7091" y="6307605"/>
            <a:ext cx="4946746" cy="38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6"/>
              </a:lnSpc>
            </a:pPr>
            <a:r>
              <a:rPr lang="es-CL" sz="2268" noProof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10163" y="-105182"/>
            <a:ext cx="9799267" cy="1934593"/>
            <a:chOff x="0" y="0"/>
            <a:chExt cx="2580877" cy="5095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80877" cy="509523"/>
            </a:xfrm>
            <a:custGeom>
              <a:avLst/>
              <a:gdLst/>
              <a:ahLst/>
              <a:cxnLst/>
              <a:rect l="l" t="t" r="r" b="b"/>
              <a:pathLst>
                <a:path w="2580877" h="509523">
                  <a:moveTo>
                    <a:pt x="33182" y="0"/>
                  </a:moveTo>
                  <a:lnTo>
                    <a:pt x="2547695" y="0"/>
                  </a:lnTo>
                  <a:cubicBezTo>
                    <a:pt x="2556495" y="0"/>
                    <a:pt x="2564935" y="3496"/>
                    <a:pt x="2571158" y="9719"/>
                  </a:cubicBezTo>
                  <a:cubicBezTo>
                    <a:pt x="2577381" y="15942"/>
                    <a:pt x="2580877" y="24382"/>
                    <a:pt x="2580877" y="33182"/>
                  </a:cubicBezTo>
                  <a:lnTo>
                    <a:pt x="2580877" y="476340"/>
                  </a:lnTo>
                  <a:cubicBezTo>
                    <a:pt x="2580877" y="494666"/>
                    <a:pt x="2566021" y="509523"/>
                    <a:pt x="2547695" y="509523"/>
                  </a:cubicBezTo>
                  <a:lnTo>
                    <a:pt x="33182" y="509523"/>
                  </a:lnTo>
                  <a:cubicBezTo>
                    <a:pt x="14856" y="509523"/>
                    <a:pt x="0" y="494666"/>
                    <a:pt x="0" y="476340"/>
                  </a:cubicBezTo>
                  <a:lnTo>
                    <a:pt x="0" y="33182"/>
                  </a:lnTo>
                  <a:cubicBezTo>
                    <a:pt x="0" y="14856"/>
                    <a:pt x="14856" y="0"/>
                    <a:pt x="331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64A66">
                    <a:alpha val="100000"/>
                  </a:srgbClr>
                </a:gs>
                <a:gs pos="100000">
                  <a:srgbClr val="1C6D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2580877" cy="64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 lang="es-CL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7980" y="3324457"/>
            <a:ext cx="8619622" cy="1735503"/>
            <a:chOff x="0" y="0"/>
            <a:chExt cx="2270189" cy="4570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0189" cy="457087"/>
            </a:xfrm>
            <a:custGeom>
              <a:avLst/>
              <a:gdLst/>
              <a:ahLst/>
              <a:cxnLst/>
              <a:rect l="l" t="t" r="r" b="b"/>
              <a:pathLst>
                <a:path w="2270189" h="457087">
                  <a:moveTo>
                    <a:pt x="15269" y="0"/>
                  </a:moveTo>
                  <a:lnTo>
                    <a:pt x="2254920" y="0"/>
                  </a:lnTo>
                  <a:cubicBezTo>
                    <a:pt x="2263352" y="0"/>
                    <a:pt x="2270189" y="6836"/>
                    <a:pt x="2270189" y="15269"/>
                  </a:cubicBezTo>
                  <a:lnTo>
                    <a:pt x="2270189" y="441818"/>
                  </a:lnTo>
                  <a:cubicBezTo>
                    <a:pt x="2270189" y="445868"/>
                    <a:pt x="2268580" y="449752"/>
                    <a:pt x="2265716" y="452615"/>
                  </a:cubicBezTo>
                  <a:cubicBezTo>
                    <a:pt x="2262853" y="455479"/>
                    <a:pt x="2258969" y="457087"/>
                    <a:pt x="2254920" y="457087"/>
                  </a:cubicBezTo>
                  <a:lnTo>
                    <a:pt x="15269" y="457087"/>
                  </a:lnTo>
                  <a:cubicBezTo>
                    <a:pt x="11219" y="457087"/>
                    <a:pt x="7336" y="455479"/>
                    <a:pt x="4472" y="452615"/>
                  </a:cubicBezTo>
                  <a:cubicBezTo>
                    <a:pt x="1609" y="449752"/>
                    <a:pt x="0" y="445868"/>
                    <a:pt x="0" y="441818"/>
                  </a:cubicBezTo>
                  <a:lnTo>
                    <a:pt x="0" y="15269"/>
                  </a:lnTo>
                  <a:cubicBezTo>
                    <a:pt x="0" y="11219"/>
                    <a:pt x="1609" y="7336"/>
                    <a:pt x="4472" y="4472"/>
                  </a:cubicBezTo>
                  <a:cubicBezTo>
                    <a:pt x="7336" y="1609"/>
                    <a:pt x="11219" y="0"/>
                    <a:pt x="1526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270189" cy="45708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94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 Trámites presenciales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720"/>
                </a:lnSpc>
              </a:pPr>
              <a:r>
                <a:rPr lang="es-CL" sz="16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Vecinos deben asistir físicamente para solicitar certificados y realizar consultas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8263" y="3484426"/>
            <a:ext cx="580874" cy="580874"/>
            <a:chOff x="0" y="0"/>
            <a:chExt cx="152987" cy="1529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987" cy="152987"/>
            </a:xfrm>
            <a:custGeom>
              <a:avLst/>
              <a:gdLst/>
              <a:ahLst/>
              <a:cxnLst/>
              <a:rect l="l" t="t" r="r" b="b"/>
              <a:pathLst>
                <a:path w="152987" h="152987">
                  <a:moveTo>
                    <a:pt x="76494" y="0"/>
                  </a:moveTo>
                  <a:lnTo>
                    <a:pt x="76494" y="0"/>
                  </a:lnTo>
                  <a:cubicBezTo>
                    <a:pt x="118740" y="0"/>
                    <a:pt x="152987" y="34247"/>
                    <a:pt x="152987" y="76494"/>
                  </a:cubicBezTo>
                  <a:lnTo>
                    <a:pt x="152987" y="76494"/>
                  </a:lnTo>
                  <a:cubicBezTo>
                    <a:pt x="152987" y="96781"/>
                    <a:pt x="144928" y="116237"/>
                    <a:pt x="130583" y="130583"/>
                  </a:cubicBezTo>
                  <a:cubicBezTo>
                    <a:pt x="116237" y="144928"/>
                    <a:pt x="96781" y="152987"/>
                    <a:pt x="76494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152987" cy="295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325605" y="3324457"/>
            <a:ext cx="0" cy="1735503"/>
          </a:xfrm>
          <a:prstGeom prst="line">
            <a:avLst/>
          </a:prstGeom>
          <a:ln w="1143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4" name="Group 14"/>
          <p:cNvGrpSpPr/>
          <p:nvPr/>
        </p:nvGrpSpPr>
        <p:grpSpPr>
          <a:xfrm>
            <a:off x="277980" y="5275481"/>
            <a:ext cx="8619622" cy="1735503"/>
            <a:chOff x="0" y="0"/>
            <a:chExt cx="2270189" cy="4570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70189" cy="457087"/>
            </a:xfrm>
            <a:custGeom>
              <a:avLst/>
              <a:gdLst/>
              <a:ahLst/>
              <a:cxnLst/>
              <a:rect l="l" t="t" r="r" b="b"/>
              <a:pathLst>
                <a:path w="2270189" h="457087">
                  <a:moveTo>
                    <a:pt x="15269" y="0"/>
                  </a:moveTo>
                  <a:lnTo>
                    <a:pt x="2254920" y="0"/>
                  </a:lnTo>
                  <a:cubicBezTo>
                    <a:pt x="2263352" y="0"/>
                    <a:pt x="2270189" y="6836"/>
                    <a:pt x="2270189" y="15269"/>
                  </a:cubicBezTo>
                  <a:lnTo>
                    <a:pt x="2270189" y="441818"/>
                  </a:lnTo>
                  <a:cubicBezTo>
                    <a:pt x="2270189" y="445868"/>
                    <a:pt x="2268580" y="449752"/>
                    <a:pt x="2265716" y="452615"/>
                  </a:cubicBezTo>
                  <a:cubicBezTo>
                    <a:pt x="2262853" y="455479"/>
                    <a:pt x="2258969" y="457087"/>
                    <a:pt x="2254920" y="457087"/>
                  </a:cubicBezTo>
                  <a:lnTo>
                    <a:pt x="15269" y="457087"/>
                  </a:lnTo>
                  <a:cubicBezTo>
                    <a:pt x="11219" y="457087"/>
                    <a:pt x="7336" y="455479"/>
                    <a:pt x="4472" y="452615"/>
                  </a:cubicBezTo>
                  <a:cubicBezTo>
                    <a:pt x="1609" y="449752"/>
                    <a:pt x="0" y="445868"/>
                    <a:pt x="0" y="441818"/>
                  </a:cubicBezTo>
                  <a:lnTo>
                    <a:pt x="0" y="15269"/>
                  </a:lnTo>
                  <a:cubicBezTo>
                    <a:pt x="0" y="11219"/>
                    <a:pt x="1609" y="7336"/>
                    <a:pt x="4472" y="4472"/>
                  </a:cubicBezTo>
                  <a:cubicBezTo>
                    <a:pt x="7336" y="1609"/>
                    <a:pt x="11219" y="0"/>
                    <a:pt x="1526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270189" cy="45708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94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 Documentación dispersa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720"/>
                </a:lnSpc>
              </a:pPr>
              <a:r>
                <a:rPr lang="es-CL" sz="16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Registros físicos difíciles de organizar, buscar y mantener actualizados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8263" y="5435450"/>
            <a:ext cx="580874" cy="580874"/>
            <a:chOff x="0" y="0"/>
            <a:chExt cx="152987" cy="1529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2987" cy="152987"/>
            </a:xfrm>
            <a:custGeom>
              <a:avLst/>
              <a:gdLst/>
              <a:ahLst/>
              <a:cxnLst/>
              <a:rect l="l" t="t" r="r" b="b"/>
              <a:pathLst>
                <a:path w="152987" h="152987">
                  <a:moveTo>
                    <a:pt x="76494" y="0"/>
                  </a:moveTo>
                  <a:lnTo>
                    <a:pt x="76494" y="0"/>
                  </a:lnTo>
                  <a:cubicBezTo>
                    <a:pt x="118740" y="0"/>
                    <a:pt x="152987" y="34247"/>
                    <a:pt x="152987" y="76494"/>
                  </a:cubicBezTo>
                  <a:lnTo>
                    <a:pt x="152987" y="76494"/>
                  </a:lnTo>
                  <a:cubicBezTo>
                    <a:pt x="152987" y="96781"/>
                    <a:pt x="144928" y="116237"/>
                    <a:pt x="130583" y="130583"/>
                  </a:cubicBezTo>
                  <a:cubicBezTo>
                    <a:pt x="116237" y="144928"/>
                    <a:pt x="96781" y="152987"/>
                    <a:pt x="76494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42875"/>
              <a:ext cx="152987" cy="295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20" name="AutoShape 20"/>
          <p:cNvSpPr/>
          <p:nvPr/>
        </p:nvSpPr>
        <p:spPr>
          <a:xfrm flipH="1">
            <a:off x="325605" y="5275481"/>
            <a:ext cx="0" cy="1735503"/>
          </a:xfrm>
          <a:prstGeom prst="line">
            <a:avLst/>
          </a:prstGeom>
          <a:ln w="1143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21" name="Group 21"/>
          <p:cNvGrpSpPr/>
          <p:nvPr/>
        </p:nvGrpSpPr>
        <p:grpSpPr>
          <a:xfrm>
            <a:off x="277980" y="7226505"/>
            <a:ext cx="8619622" cy="1735503"/>
            <a:chOff x="0" y="-936"/>
            <a:chExt cx="2270189" cy="45802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70189" cy="457087"/>
            </a:xfrm>
            <a:custGeom>
              <a:avLst/>
              <a:gdLst/>
              <a:ahLst/>
              <a:cxnLst/>
              <a:rect l="l" t="t" r="r" b="b"/>
              <a:pathLst>
                <a:path w="2270189" h="457087">
                  <a:moveTo>
                    <a:pt x="15269" y="0"/>
                  </a:moveTo>
                  <a:lnTo>
                    <a:pt x="2254920" y="0"/>
                  </a:lnTo>
                  <a:cubicBezTo>
                    <a:pt x="2263352" y="0"/>
                    <a:pt x="2270189" y="6836"/>
                    <a:pt x="2270189" y="15269"/>
                  </a:cubicBezTo>
                  <a:lnTo>
                    <a:pt x="2270189" y="441818"/>
                  </a:lnTo>
                  <a:cubicBezTo>
                    <a:pt x="2270189" y="445868"/>
                    <a:pt x="2268580" y="449752"/>
                    <a:pt x="2265716" y="452615"/>
                  </a:cubicBezTo>
                  <a:cubicBezTo>
                    <a:pt x="2262853" y="455479"/>
                    <a:pt x="2258969" y="457087"/>
                    <a:pt x="2254920" y="457087"/>
                  </a:cubicBezTo>
                  <a:lnTo>
                    <a:pt x="15269" y="457087"/>
                  </a:lnTo>
                  <a:cubicBezTo>
                    <a:pt x="11219" y="457087"/>
                    <a:pt x="7336" y="455479"/>
                    <a:pt x="4472" y="452615"/>
                  </a:cubicBezTo>
                  <a:cubicBezTo>
                    <a:pt x="1609" y="449752"/>
                    <a:pt x="0" y="445868"/>
                    <a:pt x="0" y="441818"/>
                  </a:cubicBezTo>
                  <a:lnTo>
                    <a:pt x="0" y="15269"/>
                  </a:lnTo>
                  <a:cubicBezTo>
                    <a:pt x="0" y="11219"/>
                    <a:pt x="1609" y="7336"/>
                    <a:pt x="4472" y="4472"/>
                  </a:cubicBezTo>
                  <a:cubicBezTo>
                    <a:pt x="7336" y="1609"/>
                    <a:pt x="11219" y="0"/>
                    <a:pt x="1526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36"/>
              <a:ext cx="2270189" cy="458023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94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 Sin plataforma digital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720"/>
                </a:lnSpc>
              </a:pPr>
              <a:r>
                <a:rPr lang="es-CL" sz="16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No existe sistema web que centralice la gestión vecinal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8263" y="7390028"/>
            <a:ext cx="580874" cy="580874"/>
            <a:chOff x="0" y="0"/>
            <a:chExt cx="152987" cy="15298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987" cy="152987"/>
            </a:xfrm>
            <a:custGeom>
              <a:avLst/>
              <a:gdLst/>
              <a:ahLst/>
              <a:cxnLst/>
              <a:rect l="l" t="t" r="r" b="b"/>
              <a:pathLst>
                <a:path w="152987" h="152987">
                  <a:moveTo>
                    <a:pt x="76494" y="0"/>
                  </a:moveTo>
                  <a:lnTo>
                    <a:pt x="76494" y="0"/>
                  </a:lnTo>
                  <a:cubicBezTo>
                    <a:pt x="118740" y="0"/>
                    <a:pt x="152987" y="34247"/>
                    <a:pt x="152987" y="76494"/>
                  </a:cubicBezTo>
                  <a:lnTo>
                    <a:pt x="152987" y="76494"/>
                  </a:lnTo>
                  <a:cubicBezTo>
                    <a:pt x="152987" y="96781"/>
                    <a:pt x="144928" y="116237"/>
                    <a:pt x="130583" y="130583"/>
                  </a:cubicBezTo>
                  <a:cubicBezTo>
                    <a:pt x="116237" y="144928"/>
                    <a:pt x="96781" y="152987"/>
                    <a:pt x="76494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42875"/>
              <a:ext cx="152987" cy="295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27" name="AutoShape 27"/>
          <p:cNvSpPr/>
          <p:nvPr/>
        </p:nvSpPr>
        <p:spPr>
          <a:xfrm flipH="1">
            <a:off x="325605" y="7230059"/>
            <a:ext cx="0" cy="1735503"/>
          </a:xfrm>
          <a:prstGeom prst="line">
            <a:avLst/>
          </a:prstGeom>
          <a:ln w="1143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28" name="Group 28"/>
          <p:cNvGrpSpPr/>
          <p:nvPr/>
        </p:nvGrpSpPr>
        <p:grpSpPr>
          <a:xfrm>
            <a:off x="9127712" y="3324457"/>
            <a:ext cx="8619622" cy="1735503"/>
            <a:chOff x="0" y="0"/>
            <a:chExt cx="2270189" cy="45708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70189" cy="457087"/>
            </a:xfrm>
            <a:custGeom>
              <a:avLst/>
              <a:gdLst/>
              <a:ahLst/>
              <a:cxnLst/>
              <a:rect l="l" t="t" r="r" b="b"/>
              <a:pathLst>
                <a:path w="2270189" h="457087">
                  <a:moveTo>
                    <a:pt x="15269" y="0"/>
                  </a:moveTo>
                  <a:lnTo>
                    <a:pt x="2254920" y="0"/>
                  </a:lnTo>
                  <a:cubicBezTo>
                    <a:pt x="2263352" y="0"/>
                    <a:pt x="2270189" y="6836"/>
                    <a:pt x="2270189" y="15269"/>
                  </a:cubicBezTo>
                  <a:lnTo>
                    <a:pt x="2270189" y="441818"/>
                  </a:lnTo>
                  <a:cubicBezTo>
                    <a:pt x="2270189" y="445868"/>
                    <a:pt x="2268580" y="449752"/>
                    <a:pt x="2265716" y="452615"/>
                  </a:cubicBezTo>
                  <a:cubicBezTo>
                    <a:pt x="2262853" y="455479"/>
                    <a:pt x="2258969" y="457087"/>
                    <a:pt x="2254920" y="457087"/>
                  </a:cubicBezTo>
                  <a:lnTo>
                    <a:pt x="15269" y="457087"/>
                  </a:lnTo>
                  <a:cubicBezTo>
                    <a:pt x="11219" y="457087"/>
                    <a:pt x="7336" y="455479"/>
                    <a:pt x="4472" y="452615"/>
                  </a:cubicBezTo>
                  <a:cubicBezTo>
                    <a:pt x="1609" y="449752"/>
                    <a:pt x="0" y="445868"/>
                    <a:pt x="0" y="441818"/>
                  </a:cubicBezTo>
                  <a:lnTo>
                    <a:pt x="0" y="15269"/>
                  </a:lnTo>
                  <a:cubicBezTo>
                    <a:pt x="0" y="11219"/>
                    <a:pt x="1609" y="7336"/>
                    <a:pt x="4472" y="4472"/>
                  </a:cubicBezTo>
                  <a:cubicBezTo>
                    <a:pt x="7336" y="1609"/>
                    <a:pt x="11219" y="0"/>
                    <a:pt x="1526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2270189" cy="45708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94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 Procesos lentos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720"/>
                </a:lnSpc>
              </a:pPr>
              <a:r>
                <a:rPr lang="es-CL" sz="16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Gestión manual que genera demoras y errores en la documentación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87995" y="3484426"/>
            <a:ext cx="580874" cy="580874"/>
            <a:chOff x="0" y="0"/>
            <a:chExt cx="152987" cy="15298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2987" cy="152987"/>
            </a:xfrm>
            <a:custGeom>
              <a:avLst/>
              <a:gdLst/>
              <a:ahLst/>
              <a:cxnLst/>
              <a:rect l="l" t="t" r="r" b="b"/>
              <a:pathLst>
                <a:path w="152987" h="152987">
                  <a:moveTo>
                    <a:pt x="76494" y="0"/>
                  </a:moveTo>
                  <a:lnTo>
                    <a:pt x="76494" y="0"/>
                  </a:lnTo>
                  <a:cubicBezTo>
                    <a:pt x="118740" y="0"/>
                    <a:pt x="152987" y="34247"/>
                    <a:pt x="152987" y="76494"/>
                  </a:cubicBezTo>
                  <a:lnTo>
                    <a:pt x="152987" y="76494"/>
                  </a:lnTo>
                  <a:cubicBezTo>
                    <a:pt x="152987" y="96781"/>
                    <a:pt x="144928" y="116237"/>
                    <a:pt x="130583" y="130583"/>
                  </a:cubicBezTo>
                  <a:cubicBezTo>
                    <a:pt x="116237" y="144928"/>
                    <a:pt x="96781" y="152987"/>
                    <a:pt x="76494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42875"/>
              <a:ext cx="152987" cy="295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34" name="AutoShape 34"/>
          <p:cNvSpPr/>
          <p:nvPr/>
        </p:nvSpPr>
        <p:spPr>
          <a:xfrm>
            <a:off x="9175337" y="3324457"/>
            <a:ext cx="0" cy="1735503"/>
          </a:xfrm>
          <a:prstGeom prst="line">
            <a:avLst/>
          </a:prstGeom>
          <a:ln w="1143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5" name="Group 35"/>
          <p:cNvGrpSpPr/>
          <p:nvPr/>
        </p:nvGrpSpPr>
        <p:grpSpPr>
          <a:xfrm>
            <a:off x="9127712" y="5275481"/>
            <a:ext cx="8619622" cy="1735503"/>
            <a:chOff x="0" y="0"/>
            <a:chExt cx="2270189" cy="45708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70189" cy="457087"/>
            </a:xfrm>
            <a:custGeom>
              <a:avLst/>
              <a:gdLst/>
              <a:ahLst/>
              <a:cxnLst/>
              <a:rect l="l" t="t" r="r" b="b"/>
              <a:pathLst>
                <a:path w="2270189" h="457087">
                  <a:moveTo>
                    <a:pt x="15269" y="0"/>
                  </a:moveTo>
                  <a:lnTo>
                    <a:pt x="2254920" y="0"/>
                  </a:lnTo>
                  <a:cubicBezTo>
                    <a:pt x="2263352" y="0"/>
                    <a:pt x="2270189" y="6836"/>
                    <a:pt x="2270189" y="15269"/>
                  </a:cubicBezTo>
                  <a:lnTo>
                    <a:pt x="2270189" y="441818"/>
                  </a:lnTo>
                  <a:cubicBezTo>
                    <a:pt x="2270189" y="445868"/>
                    <a:pt x="2268580" y="449752"/>
                    <a:pt x="2265716" y="452615"/>
                  </a:cubicBezTo>
                  <a:cubicBezTo>
                    <a:pt x="2262853" y="455479"/>
                    <a:pt x="2258969" y="457087"/>
                    <a:pt x="2254920" y="457087"/>
                  </a:cubicBezTo>
                  <a:lnTo>
                    <a:pt x="15269" y="457087"/>
                  </a:lnTo>
                  <a:cubicBezTo>
                    <a:pt x="11219" y="457087"/>
                    <a:pt x="7336" y="455479"/>
                    <a:pt x="4472" y="452615"/>
                  </a:cubicBezTo>
                  <a:cubicBezTo>
                    <a:pt x="1609" y="449752"/>
                    <a:pt x="0" y="445868"/>
                    <a:pt x="0" y="441818"/>
                  </a:cubicBezTo>
                  <a:lnTo>
                    <a:pt x="0" y="15269"/>
                  </a:lnTo>
                  <a:cubicBezTo>
                    <a:pt x="0" y="11219"/>
                    <a:pt x="1609" y="7336"/>
                    <a:pt x="4472" y="4472"/>
                  </a:cubicBezTo>
                  <a:cubicBezTo>
                    <a:pt x="7336" y="1609"/>
                    <a:pt x="11219" y="0"/>
                    <a:pt x="15269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2270189" cy="45708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94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 Comunicación limitada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720"/>
                </a:lnSpc>
              </a:pPr>
              <a:r>
                <a:rPr lang="es-CL" sz="16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Sin canales digitales efectivos para informar a la comunidad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87995" y="5435450"/>
            <a:ext cx="580874" cy="580874"/>
            <a:chOff x="0" y="0"/>
            <a:chExt cx="152987" cy="15298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2987" cy="152987"/>
            </a:xfrm>
            <a:custGeom>
              <a:avLst/>
              <a:gdLst/>
              <a:ahLst/>
              <a:cxnLst/>
              <a:rect l="l" t="t" r="r" b="b"/>
              <a:pathLst>
                <a:path w="152987" h="152987">
                  <a:moveTo>
                    <a:pt x="76494" y="0"/>
                  </a:moveTo>
                  <a:lnTo>
                    <a:pt x="76494" y="0"/>
                  </a:lnTo>
                  <a:cubicBezTo>
                    <a:pt x="118740" y="0"/>
                    <a:pt x="152987" y="34247"/>
                    <a:pt x="152987" y="76494"/>
                  </a:cubicBezTo>
                  <a:lnTo>
                    <a:pt x="152987" y="76494"/>
                  </a:lnTo>
                  <a:cubicBezTo>
                    <a:pt x="152987" y="96781"/>
                    <a:pt x="144928" y="116237"/>
                    <a:pt x="130583" y="130583"/>
                  </a:cubicBezTo>
                  <a:cubicBezTo>
                    <a:pt x="116237" y="144928"/>
                    <a:pt x="96781" y="152987"/>
                    <a:pt x="76494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42875"/>
              <a:ext cx="152987" cy="295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41" name="AutoShape 41"/>
          <p:cNvSpPr/>
          <p:nvPr/>
        </p:nvSpPr>
        <p:spPr>
          <a:xfrm>
            <a:off x="9175337" y="5275481"/>
            <a:ext cx="0" cy="1735503"/>
          </a:xfrm>
          <a:prstGeom prst="line">
            <a:avLst/>
          </a:prstGeom>
          <a:ln w="1143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42" name="Group 42"/>
          <p:cNvGrpSpPr/>
          <p:nvPr/>
        </p:nvGrpSpPr>
        <p:grpSpPr>
          <a:xfrm>
            <a:off x="9127712" y="7230059"/>
            <a:ext cx="8619622" cy="1735503"/>
            <a:chOff x="0" y="0"/>
            <a:chExt cx="2270189" cy="45708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270189" cy="457087"/>
            </a:xfrm>
            <a:custGeom>
              <a:avLst/>
              <a:gdLst/>
              <a:ahLst/>
              <a:cxnLst/>
              <a:rect l="l" t="t" r="r" b="b"/>
              <a:pathLst>
                <a:path w="2270189" h="457087">
                  <a:moveTo>
                    <a:pt x="15269" y="0"/>
                  </a:moveTo>
                  <a:lnTo>
                    <a:pt x="2254920" y="0"/>
                  </a:lnTo>
                  <a:cubicBezTo>
                    <a:pt x="2263352" y="0"/>
                    <a:pt x="2270189" y="6836"/>
                    <a:pt x="2270189" y="15269"/>
                  </a:cubicBezTo>
                  <a:lnTo>
                    <a:pt x="2270189" y="441818"/>
                  </a:lnTo>
                  <a:cubicBezTo>
                    <a:pt x="2270189" y="445868"/>
                    <a:pt x="2268580" y="449752"/>
                    <a:pt x="2265716" y="452615"/>
                  </a:cubicBezTo>
                  <a:cubicBezTo>
                    <a:pt x="2262853" y="455479"/>
                    <a:pt x="2258969" y="457087"/>
                    <a:pt x="2254920" y="457087"/>
                  </a:cubicBezTo>
                  <a:lnTo>
                    <a:pt x="15269" y="457087"/>
                  </a:lnTo>
                  <a:cubicBezTo>
                    <a:pt x="11219" y="457087"/>
                    <a:pt x="7336" y="455479"/>
                    <a:pt x="4472" y="452615"/>
                  </a:cubicBezTo>
                  <a:cubicBezTo>
                    <a:pt x="1609" y="449752"/>
                    <a:pt x="0" y="445868"/>
                    <a:pt x="0" y="441818"/>
                  </a:cubicBezTo>
                  <a:lnTo>
                    <a:pt x="0" y="15269"/>
                  </a:lnTo>
                  <a:cubicBezTo>
                    <a:pt x="0" y="11219"/>
                    <a:pt x="1609" y="7336"/>
                    <a:pt x="4472" y="4472"/>
                  </a:cubicBezTo>
                  <a:cubicBezTo>
                    <a:pt x="7336" y="1609"/>
                    <a:pt x="11219" y="0"/>
                    <a:pt x="15269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934"/>
              <a:ext cx="2270189" cy="456153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2940"/>
                </a:lnSpc>
              </a:pPr>
              <a:r>
                <a:rPr lang="es-CL" sz="2100" noProof="0" dirty="0">
                  <a:solidFill>
                    <a:srgbClr val="EDF3F4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 Oportunidad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EDF3F4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720"/>
                </a:lnSpc>
              </a:pPr>
              <a:r>
                <a:rPr lang="es-CL" sz="1600" noProof="0" dirty="0">
                  <a:solidFill>
                    <a:srgbClr val="EDF3F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Modernizar la gestión comunitaria mediante tecnología accesible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587995" y="7390028"/>
            <a:ext cx="580874" cy="580874"/>
            <a:chOff x="0" y="0"/>
            <a:chExt cx="152987" cy="15298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2987" cy="152987"/>
            </a:xfrm>
            <a:custGeom>
              <a:avLst/>
              <a:gdLst/>
              <a:ahLst/>
              <a:cxnLst/>
              <a:rect l="l" t="t" r="r" b="b"/>
              <a:pathLst>
                <a:path w="152987" h="152987">
                  <a:moveTo>
                    <a:pt x="76494" y="0"/>
                  </a:moveTo>
                  <a:lnTo>
                    <a:pt x="76494" y="0"/>
                  </a:lnTo>
                  <a:cubicBezTo>
                    <a:pt x="118740" y="0"/>
                    <a:pt x="152987" y="34247"/>
                    <a:pt x="152987" y="76494"/>
                  </a:cubicBezTo>
                  <a:lnTo>
                    <a:pt x="152987" y="76494"/>
                  </a:lnTo>
                  <a:cubicBezTo>
                    <a:pt x="152987" y="96781"/>
                    <a:pt x="144928" y="116237"/>
                    <a:pt x="130583" y="130583"/>
                  </a:cubicBezTo>
                  <a:cubicBezTo>
                    <a:pt x="116237" y="144928"/>
                    <a:pt x="96781" y="152987"/>
                    <a:pt x="76494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EDF3F4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42875"/>
              <a:ext cx="152987" cy="295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48" name="Freeform 48"/>
          <p:cNvSpPr/>
          <p:nvPr/>
        </p:nvSpPr>
        <p:spPr>
          <a:xfrm>
            <a:off x="880176" y="3589208"/>
            <a:ext cx="297047" cy="371309"/>
          </a:xfrm>
          <a:custGeom>
            <a:avLst/>
            <a:gdLst/>
            <a:ahLst/>
            <a:cxnLst/>
            <a:rect l="l" t="t" r="r" b="b"/>
            <a:pathLst>
              <a:path w="297047" h="371309">
                <a:moveTo>
                  <a:pt x="0" y="0"/>
                </a:moveTo>
                <a:lnTo>
                  <a:pt x="297048" y="0"/>
                </a:lnTo>
                <a:lnTo>
                  <a:pt x="297048" y="371309"/>
                </a:lnTo>
                <a:lnTo>
                  <a:pt x="0" y="37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49" name="Freeform 49"/>
          <p:cNvSpPr/>
          <p:nvPr/>
        </p:nvSpPr>
        <p:spPr>
          <a:xfrm>
            <a:off x="821553" y="5561946"/>
            <a:ext cx="414293" cy="331435"/>
          </a:xfrm>
          <a:custGeom>
            <a:avLst/>
            <a:gdLst/>
            <a:ahLst/>
            <a:cxnLst/>
            <a:rect l="l" t="t" r="r" b="b"/>
            <a:pathLst>
              <a:path w="414293" h="331435">
                <a:moveTo>
                  <a:pt x="0" y="0"/>
                </a:moveTo>
                <a:lnTo>
                  <a:pt x="414294" y="0"/>
                </a:lnTo>
                <a:lnTo>
                  <a:pt x="414294" y="331435"/>
                </a:lnTo>
                <a:lnTo>
                  <a:pt x="0" y="331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0" name="Freeform 50"/>
          <p:cNvSpPr/>
          <p:nvPr/>
        </p:nvSpPr>
        <p:spPr>
          <a:xfrm>
            <a:off x="821553" y="7453143"/>
            <a:ext cx="414293" cy="454643"/>
          </a:xfrm>
          <a:custGeom>
            <a:avLst/>
            <a:gdLst/>
            <a:ahLst/>
            <a:cxnLst/>
            <a:rect l="l" t="t" r="r" b="b"/>
            <a:pathLst>
              <a:path w="414293" h="454643">
                <a:moveTo>
                  <a:pt x="0" y="0"/>
                </a:moveTo>
                <a:lnTo>
                  <a:pt x="414294" y="0"/>
                </a:lnTo>
                <a:lnTo>
                  <a:pt x="414294" y="454643"/>
                </a:lnTo>
                <a:lnTo>
                  <a:pt x="0" y="454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1" name="Freeform 51"/>
          <p:cNvSpPr/>
          <p:nvPr/>
        </p:nvSpPr>
        <p:spPr>
          <a:xfrm>
            <a:off x="9692778" y="3589208"/>
            <a:ext cx="371309" cy="371309"/>
          </a:xfrm>
          <a:custGeom>
            <a:avLst/>
            <a:gdLst/>
            <a:ahLst/>
            <a:cxnLst/>
            <a:rect l="l" t="t" r="r" b="b"/>
            <a:pathLst>
              <a:path w="371309" h="371309">
                <a:moveTo>
                  <a:pt x="0" y="0"/>
                </a:moveTo>
                <a:lnTo>
                  <a:pt x="371309" y="0"/>
                </a:lnTo>
                <a:lnTo>
                  <a:pt x="371309" y="371309"/>
                </a:lnTo>
                <a:lnTo>
                  <a:pt x="0" y="371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2" name="Freeform 52"/>
          <p:cNvSpPr/>
          <p:nvPr/>
        </p:nvSpPr>
        <p:spPr>
          <a:xfrm>
            <a:off x="9692778" y="5515817"/>
            <a:ext cx="371309" cy="423693"/>
          </a:xfrm>
          <a:custGeom>
            <a:avLst/>
            <a:gdLst/>
            <a:ahLst/>
            <a:cxnLst/>
            <a:rect l="l" t="t" r="r" b="b"/>
            <a:pathLst>
              <a:path w="371309" h="423693">
                <a:moveTo>
                  <a:pt x="0" y="0"/>
                </a:moveTo>
                <a:lnTo>
                  <a:pt x="371309" y="0"/>
                </a:lnTo>
                <a:lnTo>
                  <a:pt x="371309" y="423693"/>
                </a:lnTo>
                <a:lnTo>
                  <a:pt x="0" y="4236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3" name="Freeform 53"/>
          <p:cNvSpPr/>
          <p:nvPr/>
        </p:nvSpPr>
        <p:spPr>
          <a:xfrm>
            <a:off x="9673555" y="7481973"/>
            <a:ext cx="390532" cy="396983"/>
          </a:xfrm>
          <a:custGeom>
            <a:avLst/>
            <a:gdLst/>
            <a:ahLst/>
            <a:cxnLst/>
            <a:rect l="l" t="t" r="r" b="b"/>
            <a:pathLst>
              <a:path w="390532" h="396983">
                <a:moveTo>
                  <a:pt x="0" y="0"/>
                </a:moveTo>
                <a:lnTo>
                  <a:pt x="390532" y="0"/>
                </a:lnTo>
                <a:lnTo>
                  <a:pt x="390532" y="396983"/>
                </a:lnTo>
                <a:lnTo>
                  <a:pt x="0" y="39698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4" name="TextBox 54"/>
          <p:cNvSpPr txBox="1"/>
          <p:nvPr/>
        </p:nvSpPr>
        <p:spPr>
          <a:xfrm>
            <a:off x="514350" y="283208"/>
            <a:ext cx="8545713" cy="112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0"/>
              </a:lnSpc>
              <a:spcBef>
                <a:spcPct val="0"/>
              </a:spcBef>
            </a:pPr>
            <a:r>
              <a:rPr lang="es-CL" sz="7100" spc="-142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Contexto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A66">
                <a:alpha val="100000"/>
              </a:srgbClr>
            </a:gs>
            <a:gs pos="100000">
              <a:srgbClr val="1C6D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068639"/>
            <a:ext cx="7327281" cy="6680752"/>
            <a:chOff x="0" y="0"/>
            <a:chExt cx="1929819" cy="17595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9819" cy="1759540"/>
            </a:xfrm>
            <a:custGeom>
              <a:avLst/>
              <a:gdLst/>
              <a:ahLst/>
              <a:cxnLst/>
              <a:rect l="l" t="t" r="r" b="b"/>
              <a:pathLst>
                <a:path w="1929819" h="1759540">
                  <a:moveTo>
                    <a:pt x="52829" y="0"/>
                  </a:moveTo>
                  <a:lnTo>
                    <a:pt x="1876990" y="0"/>
                  </a:lnTo>
                  <a:cubicBezTo>
                    <a:pt x="1891001" y="0"/>
                    <a:pt x="1904438" y="5566"/>
                    <a:pt x="1914346" y="15473"/>
                  </a:cubicBezTo>
                  <a:cubicBezTo>
                    <a:pt x="1924253" y="25381"/>
                    <a:pt x="1929819" y="38818"/>
                    <a:pt x="1929819" y="52829"/>
                  </a:cubicBezTo>
                  <a:lnTo>
                    <a:pt x="1929819" y="1706710"/>
                  </a:lnTo>
                  <a:cubicBezTo>
                    <a:pt x="1929819" y="1720722"/>
                    <a:pt x="1924253" y="1734159"/>
                    <a:pt x="1914346" y="1744066"/>
                  </a:cubicBezTo>
                  <a:cubicBezTo>
                    <a:pt x="1904438" y="1753974"/>
                    <a:pt x="1891001" y="1759540"/>
                    <a:pt x="1876990" y="1759540"/>
                  </a:cubicBezTo>
                  <a:lnTo>
                    <a:pt x="52829" y="1759540"/>
                  </a:lnTo>
                  <a:cubicBezTo>
                    <a:pt x="38818" y="1759540"/>
                    <a:pt x="25381" y="1753974"/>
                    <a:pt x="15473" y="1744066"/>
                  </a:cubicBezTo>
                  <a:cubicBezTo>
                    <a:pt x="5566" y="1734159"/>
                    <a:pt x="0" y="1720722"/>
                    <a:pt x="0" y="1706710"/>
                  </a:cubicBezTo>
                  <a:lnTo>
                    <a:pt x="0" y="52829"/>
                  </a:lnTo>
                  <a:cubicBezTo>
                    <a:pt x="0" y="38818"/>
                    <a:pt x="5566" y="25381"/>
                    <a:pt x="15473" y="15473"/>
                  </a:cubicBezTo>
                  <a:cubicBezTo>
                    <a:pt x="25381" y="5566"/>
                    <a:pt x="38818" y="0"/>
                    <a:pt x="52829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3E969B"/>
              </a:solidFill>
              <a:prstDash val="solid"/>
              <a:round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929819" cy="1788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12465" lvl="1" indent="-356233" algn="l">
                <a:lnSpc>
                  <a:spcPts val="4289"/>
                </a:lnSpc>
                <a:buFont typeface="Arial"/>
                <a:buChar char="•"/>
              </a:pPr>
              <a:r>
                <a:rPr lang="es-CL" sz="32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Falta de digitalización</a:t>
              </a:r>
            </a:p>
            <a:p>
              <a:pPr marL="712465" lvl="1" indent="-356233" algn="l">
                <a:lnSpc>
                  <a:spcPts val="4289"/>
                </a:lnSpc>
                <a:buFont typeface="Arial"/>
                <a:buChar char="•"/>
              </a:pPr>
              <a:r>
                <a:rPr lang="es-CL" sz="32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Baja trazabilidad de solicitudes</a:t>
              </a:r>
            </a:p>
            <a:p>
              <a:pPr marL="712465" lvl="1" indent="-356233" algn="l">
                <a:lnSpc>
                  <a:spcPts val="4289"/>
                </a:lnSpc>
                <a:buFont typeface="Arial"/>
                <a:buChar char="•"/>
              </a:pPr>
              <a:r>
                <a:rPr lang="es-CL" sz="32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Poca comunicación con los vecinos</a:t>
              </a:r>
            </a:p>
            <a:p>
              <a:pPr marL="712465" lvl="1" indent="-356233" algn="l">
                <a:lnSpc>
                  <a:spcPts val="4289"/>
                </a:lnSpc>
                <a:buFont typeface="Arial"/>
                <a:buChar char="•"/>
              </a:pPr>
              <a:r>
                <a:rPr lang="es-CL" sz="32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Emisión manual de certificados</a:t>
              </a:r>
            </a:p>
            <a:p>
              <a:pPr marL="712465" lvl="1" indent="-356233" algn="l">
                <a:lnSpc>
                  <a:spcPts val="42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s-CL" sz="32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Reservas de espacios sin control</a:t>
              </a:r>
            </a:p>
          </p:txBody>
        </p:sp>
      </p:grp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080E9975-282E-C152-E910-B0C8E4CFE4F1}"/>
              </a:ext>
            </a:extLst>
          </p:cNvPr>
          <p:cNvSpPr/>
          <p:nvPr/>
        </p:nvSpPr>
        <p:spPr>
          <a:xfrm>
            <a:off x="1028700" y="3093159"/>
            <a:ext cx="7327281" cy="968621"/>
          </a:xfrm>
          <a:prstGeom prst="roundRect">
            <a:avLst/>
          </a:prstGeom>
          <a:solidFill>
            <a:srgbClr val="3E969B"/>
          </a:solidFill>
          <a:ln>
            <a:solidFill>
              <a:srgbClr val="3E96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dirty="0"/>
              <a:t>PROBLEMA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32019" y="3068639"/>
            <a:ext cx="7327281" cy="6680752"/>
            <a:chOff x="0" y="0"/>
            <a:chExt cx="1929819" cy="17595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9819" cy="1759540"/>
            </a:xfrm>
            <a:custGeom>
              <a:avLst/>
              <a:gdLst/>
              <a:ahLst/>
              <a:cxnLst/>
              <a:rect l="l" t="t" r="r" b="b"/>
              <a:pathLst>
                <a:path w="1929819" h="1759540">
                  <a:moveTo>
                    <a:pt x="52829" y="0"/>
                  </a:moveTo>
                  <a:lnTo>
                    <a:pt x="1876990" y="0"/>
                  </a:lnTo>
                  <a:cubicBezTo>
                    <a:pt x="1891001" y="0"/>
                    <a:pt x="1904438" y="5566"/>
                    <a:pt x="1914346" y="15473"/>
                  </a:cubicBezTo>
                  <a:cubicBezTo>
                    <a:pt x="1924253" y="25381"/>
                    <a:pt x="1929819" y="38818"/>
                    <a:pt x="1929819" y="52829"/>
                  </a:cubicBezTo>
                  <a:lnTo>
                    <a:pt x="1929819" y="1706710"/>
                  </a:lnTo>
                  <a:cubicBezTo>
                    <a:pt x="1929819" y="1720722"/>
                    <a:pt x="1924253" y="1734159"/>
                    <a:pt x="1914346" y="1744066"/>
                  </a:cubicBezTo>
                  <a:cubicBezTo>
                    <a:pt x="1904438" y="1753974"/>
                    <a:pt x="1891001" y="1759540"/>
                    <a:pt x="1876990" y="1759540"/>
                  </a:cubicBezTo>
                  <a:lnTo>
                    <a:pt x="52829" y="1759540"/>
                  </a:lnTo>
                  <a:cubicBezTo>
                    <a:pt x="38818" y="1759540"/>
                    <a:pt x="25381" y="1753974"/>
                    <a:pt x="15473" y="1744066"/>
                  </a:cubicBezTo>
                  <a:cubicBezTo>
                    <a:pt x="5566" y="1734159"/>
                    <a:pt x="0" y="1720722"/>
                    <a:pt x="0" y="1706710"/>
                  </a:cubicBezTo>
                  <a:lnTo>
                    <a:pt x="0" y="52829"/>
                  </a:lnTo>
                  <a:cubicBezTo>
                    <a:pt x="0" y="38818"/>
                    <a:pt x="5566" y="25381"/>
                    <a:pt x="15473" y="15473"/>
                  </a:cubicBezTo>
                  <a:cubicBezTo>
                    <a:pt x="25381" y="5566"/>
                    <a:pt x="38818" y="0"/>
                    <a:pt x="52829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3E969B"/>
              </a:solidFill>
              <a:prstDash val="solid"/>
              <a:round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929819" cy="1788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690876" lvl="1" indent="-345438" algn="l">
                <a:lnSpc>
                  <a:spcPts val="4159"/>
                </a:lnSpc>
                <a:buFont typeface="Arial"/>
                <a:buChar char="•"/>
              </a:pPr>
              <a:r>
                <a:rPr lang="es-CL" sz="31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Digitaliza trámites y documentos</a:t>
              </a:r>
            </a:p>
            <a:p>
              <a:pPr marL="690876" lvl="1" indent="-345438" algn="l">
                <a:lnSpc>
                  <a:spcPts val="4159"/>
                </a:lnSpc>
                <a:buFont typeface="Arial"/>
                <a:buChar char="•"/>
              </a:pPr>
              <a:r>
                <a:rPr lang="es-CL" sz="31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Centraliza solicitudes, certificados y reservas</a:t>
              </a:r>
            </a:p>
            <a:p>
              <a:pPr marL="690876" lvl="1" indent="-345438" algn="l">
                <a:lnSpc>
                  <a:spcPts val="4159"/>
                </a:lnSpc>
                <a:buFont typeface="Arial"/>
                <a:buChar char="•"/>
              </a:pPr>
              <a:r>
                <a:rPr lang="es-CL" sz="31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Moderniza comunicación y administración</a:t>
              </a:r>
            </a:p>
            <a:p>
              <a:pPr marL="690876" lvl="1" indent="-345438" algn="l">
                <a:lnSpc>
                  <a:spcPts val="4159"/>
                </a:lnSpc>
                <a:buFont typeface="Arial"/>
                <a:buChar char="•"/>
              </a:pPr>
              <a:r>
                <a:rPr lang="es-CL" sz="31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Integración con correo automático</a:t>
              </a:r>
            </a:p>
            <a:p>
              <a:pPr marL="690876" lvl="1" indent="-345438" algn="l">
                <a:lnSpc>
                  <a:spcPts val="41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s-CL" sz="31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Control de usuarios según rol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8590970" y="4880781"/>
            <a:ext cx="1106060" cy="1528234"/>
          </a:xfrm>
          <a:custGeom>
            <a:avLst/>
            <a:gdLst/>
            <a:ahLst/>
            <a:cxnLst/>
            <a:rect l="l" t="t" r="r" b="b"/>
            <a:pathLst>
              <a:path w="1106060" h="1528234">
                <a:moveTo>
                  <a:pt x="0" y="0"/>
                </a:moveTo>
                <a:lnTo>
                  <a:pt x="1106060" y="0"/>
                </a:lnTo>
                <a:lnTo>
                  <a:pt x="1106060" y="1528235"/>
                </a:lnTo>
                <a:lnTo>
                  <a:pt x="0" y="1528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Box 15"/>
          <p:cNvSpPr txBox="1"/>
          <p:nvPr/>
        </p:nvSpPr>
        <p:spPr>
          <a:xfrm>
            <a:off x="1028700" y="557999"/>
            <a:ext cx="16230599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77"/>
              </a:lnSpc>
              <a:spcBef>
                <a:spcPct val="0"/>
              </a:spcBef>
            </a:pPr>
            <a:r>
              <a:rPr lang="es-CL" sz="10077" spc="-201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Problema - Solución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57600" y="1946000"/>
            <a:ext cx="14920110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0"/>
              </a:lnSpc>
              <a:spcBef>
                <a:spcPct val="0"/>
              </a:spcBef>
            </a:pPr>
            <a:r>
              <a:rPr lang="es-CL" sz="2100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 continuación se detallará el problema identificado y su respectiva solución 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835E3486-F615-4181-1DC1-0BE470F41566}"/>
              </a:ext>
            </a:extLst>
          </p:cNvPr>
          <p:cNvSpPr/>
          <p:nvPr/>
        </p:nvSpPr>
        <p:spPr>
          <a:xfrm>
            <a:off x="9932018" y="3068639"/>
            <a:ext cx="7327281" cy="968621"/>
          </a:xfrm>
          <a:prstGeom prst="roundRect">
            <a:avLst/>
          </a:prstGeom>
          <a:solidFill>
            <a:srgbClr val="3E969B"/>
          </a:solidFill>
          <a:ln>
            <a:solidFill>
              <a:srgbClr val="3E96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dirty="0"/>
              <a:t>SOLUCIÓN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5800353" y="5124450"/>
            <a:ext cx="1458947" cy="1458947"/>
          </a:xfrm>
          <a:custGeom>
            <a:avLst/>
            <a:gdLst/>
            <a:ahLst/>
            <a:cxnLst/>
            <a:rect l="l" t="t" r="r" b="b"/>
            <a:pathLst>
              <a:path w="1458947" h="1458947">
                <a:moveTo>
                  <a:pt x="0" y="0"/>
                </a:moveTo>
                <a:lnTo>
                  <a:pt x="1458947" y="0"/>
                </a:lnTo>
                <a:lnTo>
                  <a:pt x="1458947" y="1458947"/>
                </a:lnTo>
                <a:lnTo>
                  <a:pt x="0" y="1458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327589" y="-74511"/>
            <a:ext cx="16705314" cy="11377797"/>
            <a:chOff x="0" y="0"/>
            <a:chExt cx="5475623" cy="37293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4C72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5475623" cy="3729384"/>
            </a:xfrm>
            <a:custGeom>
              <a:avLst/>
              <a:gdLst/>
              <a:ahLst/>
              <a:cxnLst/>
              <a:rect l="l" t="t" r="r" b="b"/>
              <a:pathLst>
                <a:path w="5475623" h="3729384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blipFill>
              <a:blip r:embed="rId4"/>
              <a:stretch>
                <a:fillRect t="-60112" b="-60675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91398" y="-141684"/>
            <a:ext cx="8879638" cy="2166986"/>
            <a:chOff x="0" y="0"/>
            <a:chExt cx="2338670" cy="5707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38670" cy="570729"/>
            </a:xfrm>
            <a:custGeom>
              <a:avLst/>
              <a:gdLst/>
              <a:ahLst/>
              <a:cxnLst/>
              <a:rect l="l" t="t" r="r" b="b"/>
              <a:pathLst>
                <a:path w="2338670" h="570729">
                  <a:moveTo>
                    <a:pt x="36619" y="0"/>
                  </a:moveTo>
                  <a:lnTo>
                    <a:pt x="2302051" y="0"/>
                  </a:lnTo>
                  <a:cubicBezTo>
                    <a:pt x="2322275" y="0"/>
                    <a:pt x="2338670" y="16395"/>
                    <a:pt x="2338670" y="36619"/>
                  </a:cubicBezTo>
                  <a:lnTo>
                    <a:pt x="2338670" y="534110"/>
                  </a:lnTo>
                  <a:cubicBezTo>
                    <a:pt x="2338670" y="554334"/>
                    <a:pt x="2322275" y="570729"/>
                    <a:pt x="2302051" y="570729"/>
                  </a:cubicBezTo>
                  <a:lnTo>
                    <a:pt x="36619" y="570729"/>
                  </a:lnTo>
                  <a:cubicBezTo>
                    <a:pt x="26907" y="570729"/>
                    <a:pt x="17593" y="566871"/>
                    <a:pt x="10725" y="560003"/>
                  </a:cubicBezTo>
                  <a:cubicBezTo>
                    <a:pt x="3858" y="553136"/>
                    <a:pt x="0" y="543822"/>
                    <a:pt x="0" y="534110"/>
                  </a:cubicBezTo>
                  <a:lnTo>
                    <a:pt x="0" y="36619"/>
                  </a:lnTo>
                  <a:cubicBezTo>
                    <a:pt x="0" y="16395"/>
                    <a:pt x="16395" y="0"/>
                    <a:pt x="366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64A66">
                    <a:alpha val="100000"/>
                  </a:srgbClr>
                </a:gs>
                <a:gs pos="100000">
                  <a:srgbClr val="1C6D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33350"/>
              <a:ext cx="2338670" cy="704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 lang="es-CL" noProof="0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72940" y="356332"/>
            <a:ext cx="7538469" cy="1123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0"/>
              </a:lnSpc>
              <a:spcBef>
                <a:spcPct val="0"/>
              </a:spcBef>
            </a:pPr>
            <a:r>
              <a:rPr lang="es-CL" sz="7100" spc="-142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Público objetivo</a:t>
            </a:r>
          </a:p>
        </p:txBody>
      </p:sp>
      <p:sp>
        <p:nvSpPr>
          <p:cNvPr id="11" name="Freeform 11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aphicFrame>
        <p:nvGraphicFramePr>
          <p:cNvPr id="13" name="TextBox 6">
            <a:extLst>
              <a:ext uri="{FF2B5EF4-FFF2-40B4-BE49-F238E27FC236}">
                <a16:creationId xmlns:a16="http://schemas.microsoft.com/office/drawing/2014/main" id="{64103340-C291-31D7-FEB6-A7FE114EF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8744880"/>
              </p:ext>
            </p:extLst>
          </p:nvPr>
        </p:nvGraphicFramePr>
        <p:xfrm>
          <a:off x="372940" y="2777976"/>
          <a:ext cx="8941253" cy="565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10163" y="-105182"/>
            <a:ext cx="9799267" cy="1934593"/>
            <a:chOff x="0" y="0"/>
            <a:chExt cx="2580877" cy="5095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80877" cy="509523"/>
            </a:xfrm>
            <a:custGeom>
              <a:avLst/>
              <a:gdLst/>
              <a:ahLst/>
              <a:cxnLst/>
              <a:rect l="l" t="t" r="r" b="b"/>
              <a:pathLst>
                <a:path w="2580877" h="509523">
                  <a:moveTo>
                    <a:pt x="33182" y="0"/>
                  </a:moveTo>
                  <a:lnTo>
                    <a:pt x="2547695" y="0"/>
                  </a:lnTo>
                  <a:cubicBezTo>
                    <a:pt x="2556495" y="0"/>
                    <a:pt x="2564935" y="3496"/>
                    <a:pt x="2571158" y="9719"/>
                  </a:cubicBezTo>
                  <a:cubicBezTo>
                    <a:pt x="2577381" y="15942"/>
                    <a:pt x="2580877" y="24382"/>
                    <a:pt x="2580877" y="33182"/>
                  </a:cubicBezTo>
                  <a:lnTo>
                    <a:pt x="2580877" y="476340"/>
                  </a:lnTo>
                  <a:cubicBezTo>
                    <a:pt x="2580877" y="494666"/>
                    <a:pt x="2566021" y="509523"/>
                    <a:pt x="2547695" y="509523"/>
                  </a:cubicBezTo>
                  <a:lnTo>
                    <a:pt x="33182" y="509523"/>
                  </a:lnTo>
                  <a:cubicBezTo>
                    <a:pt x="14856" y="509523"/>
                    <a:pt x="0" y="494666"/>
                    <a:pt x="0" y="476340"/>
                  </a:cubicBezTo>
                  <a:lnTo>
                    <a:pt x="0" y="33182"/>
                  </a:lnTo>
                  <a:cubicBezTo>
                    <a:pt x="0" y="14856"/>
                    <a:pt x="14856" y="0"/>
                    <a:pt x="331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64A66">
                    <a:alpha val="100000"/>
                  </a:srgbClr>
                </a:gs>
                <a:gs pos="100000">
                  <a:srgbClr val="1C6D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2580877" cy="64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 lang="es-CL" noProof="0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4350" y="283208"/>
            <a:ext cx="8545713" cy="112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0"/>
              </a:lnSpc>
              <a:spcBef>
                <a:spcPct val="0"/>
              </a:spcBef>
            </a:pPr>
            <a:r>
              <a:rPr lang="es-CL" sz="7100" spc="-142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Objetivos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651" y="4226997"/>
            <a:ext cx="6687344" cy="3914489"/>
            <a:chOff x="0" y="0"/>
            <a:chExt cx="1761276" cy="10309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61276" cy="1030977"/>
            </a:xfrm>
            <a:custGeom>
              <a:avLst/>
              <a:gdLst/>
              <a:ahLst/>
              <a:cxnLst/>
              <a:rect l="l" t="t" r="r" b="b"/>
              <a:pathLst>
                <a:path w="1761276" h="1030977">
                  <a:moveTo>
                    <a:pt x="19681" y="0"/>
                  </a:moveTo>
                  <a:lnTo>
                    <a:pt x="1741595" y="0"/>
                  </a:lnTo>
                  <a:cubicBezTo>
                    <a:pt x="1746815" y="0"/>
                    <a:pt x="1751821" y="2074"/>
                    <a:pt x="1755511" y="5764"/>
                  </a:cubicBezTo>
                  <a:cubicBezTo>
                    <a:pt x="1759202" y="9455"/>
                    <a:pt x="1761276" y="14461"/>
                    <a:pt x="1761276" y="19681"/>
                  </a:cubicBezTo>
                  <a:lnTo>
                    <a:pt x="1761276" y="1011296"/>
                  </a:lnTo>
                  <a:cubicBezTo>
                    <a:pt x="1761276" y="1022165"/>
                    <a:pt x="1752464" y="1030977"/>
                    <a:pt x="1741595" y="1030977"/>
                  </a:cubicBezTo>
                  <a:lnTo>
                    <a:pt x="19681" y="1030977"/>
                  </a:lnTo>
                  <a:cubicBezTo>
                    <a:pt x="14461" y="1030977"/>
                    <a:pt x="9455" y="1028903"/>
                    <a:pt x="5764" y="1025212"/>
                  </a:cubicBezTo>
                  <a:cubicBezTo>
                    <a:pt x="2074" y="1021521"/>
                    <a:pt x="0" y="1016515"/>
                    <a:pt x="0" y="1011296"/>
                  </a:cubicBezTo>
                  <a:lnTo>
                    <a:pt x="0" y="19681"/>
                  </a:lnTo>
                  <a:cubicBezTo>
                    <a:pt x="0" y="8811"/>
                    <a:pt x="8811" y="0"/>
                    <a:pt x="19681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61276" cy="1030977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4079"/>
                </a:lnSpc>
              </a:pPr>
              <a:r>
                <a:rPr lang="es-CL" sz="2400" b="1" noProof="0" dirty="0">
                  <a:solidFill>
                    <a:srgbClr val="FFFFFF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OBJETIVO GENERAL</a:t>
              </a:r>
            </a:p>
            <a:p>
              <a:pPr algn="l">
                <a:lnSpc>
                  <a:spcPts val="4079"/>
                </a:lnSpc>
              </a:pPr>
              <a:r>
                <a:rPr lang="es-CL" sz="2400" noProof="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Desarrollar una plataforma web que optimice y modernice la gestión de juntas de vecinos mediante digitalización de trámites, comunicación y participación comunitaria.</a:t>
              </a:r>
            </a:p>
            <a:p>
              <a:pPr algn="l">
                <a:lnSpc>
                  <a:spcPts val="3570"/>
                </a:lnSpc>
              </a:pPr>
              <a:endParaRPr lang="es-CL" sz="2400" noProof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25239" y="3234893"/>
            <a:ext cx="10712023" cy="992104"/>
            <a:chOff x="0" y="0"/>
            <a:chExt cx="2821274" cy="2612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21274" cy="261295"/>
            </a:xfrm>
            <a:custGeom>
              <a:avLst/>
              <a:gdLst/>
              <a:ahLst/>
              <a:cxnLst/>
              <a:rect l="l" t="t" r="r" b="b"/>
              <a:pathLst>
                <a:path w="2821274" h="261295">
                  <a:moveTo>
                    <a:pt x="12286" y="0"/>
                  </a:moveTo>
                  <a:lnTo>
                    <a:pt x="2808987" y="0"/>
                  </a:lnTo>
                  <a:cubicBezTo>
                    <a:pt x="2815773" y="0"/>
                    <a:pt x="2821274" y="5501"/>
                    <a:pt x="2821274" y="12286"/>
                  </a:cubicBezTo>
                  <a:lnTo>
                    <a:pt x="2821274" y="249008"/>
                  </a:lnTo>
                  <a:cubicBezTo>
                    <a:pt x="2821274" y="255794"/>
                    <a:pt x="2815773" y="261295"/>
                    <a:pt x="2808987" y="261295"/>
                  </a:cubicBezTo>
                  <a:lnTo>
                    <a:pt x="12286" y="261295"/>
                  </a:lnTo>
                  <a:cubicBezTo>
                    <a:pt x="5501" y="261295"/>
                    <a:pt x="0" y="255794"/>
                    <a:pt x="0" y="249008"/>
                  </a:cubicBezTo>
                  <a:lnTo>
                    <a:pt x="0" y="12286"/>
                  </a:lnTo>
                  <a:cubicBezTo>
                    <a:pt x="0" y="5501"/>
                    <a:pt x="5501" y="0"/>
                    <a:pt x="12286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pPr>
                <a:lnSpc>
                  <a:spcPct val="250000"/>
                </a:lnSpc>
              </a:pPr>
              <a:endParaRPr lang="es-CL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2821274" cy="366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250000"/>
                </a:lnSpc>
              </a:pPr>
              <a:r>
                <a:rPr lang="es-CL" sz="22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Implementar registro e inscripción con validación de datos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00007" y="3408725"/>
            <a:ext cx="640522" cy="644441"/>
            <a:chOff x="0" y="0"/>
            <a:chExt cx="918018" cy="9236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8018" cy="923636"/>
            </a:xfrm>
            <a:custGeom>
              <a:avLst/>
              <a:gdLst/>
              <a:ahLst/>
              <a:cxnLst/>
              <a:rect l="l" t="t" r="r" b="b"/>
              <a:pathLst>
                <a:path w="918018" h="923636">
                  <a:moveTo>
                    <a:pt x="459009" y="0"/>
                  </a:moveTo>
                  <a:cubicBezTo>
                    <a:pt x="205505" y="0"/>
                    <a:pt x="0" y="206763"/>
                    <a:pt x="0" y="461818"/>
                  </a:cubicBezTo>
                  <a:cubicBezTo>
                    <a:pt x="0" y="716873"/>
                    <a:pt x="205505" y="923636"/>
                    <a:pt x="459009" y="923636"/>
                  </a:cubicBezTo>
                  <a:cubicBezTo>
                    <a:pt x="712513" y="923636"/>
                    <a:pt x="918018" y="716873"/>
                    <a:pt x="918018" y="461818"/>
                  </a:cubicBezTo>
                  <a:cubicBezTo>
                    <a:pt x="918018" y="206763"/>
                    <a:pt x="712513" y="0"/>
                    <a:pt x="459009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064" y="-56284"/>
              <a:ext cx="745890" cy="893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1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7263339" y="3234893"/>
            <a:ext cx="0" cy="992104"/>
          </a:xfrm>
          <a:prstGeom prst="line">
            <a:avLst/>
          </a:prstGeom>
          <a:ln w="762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7" name="Group 17"/>
          <p:cNvGrpSpPr/>
          <p:nvPr/>
        </p:nvGrpSpPr>
        <p:grpSpPr>
          <a:xfrm>
            <a:off x="7225239" y="4341665"/>
            <a:ext cx="10712023" cy="992104"/>
            <a:chOff x="0" y="0"/>
            <a:chExt cx="2821274" cy="2612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21274" cy="261295"/>
            </a:xfrm>
            <a:custGeom>
              <a:avLst/>
              <a:gdLst/>
              <a:ahLst/>
              <a:cxnLst/>
              <a:rect l="l" t="t" r="r" b="b"/>
              <a:pathLst>
                <a:path w="2821274" h="261295">
                  <a:moveTo>
                    <a:pt x="12286" y="0"/>
                  </a:moveTo>
                  <a:lnTo>
                    <a:pt x="2808987" y="0"/>
                  </a:lnTo>
                  <a:cubicBezTo>
                    <a:pt x="2815773" y="0"/>
                    <a:pt x="2821274" y="5501"/>
                    <a:pt x="2821274" y="12286"/>
                  </a:cubicBezTo>
                  <a:lnTo>
                    <a:pt x="2821274" y="249008"/>
                  </a:lnTo>
                  <a:cubicBezTo>
                    <a:pt x="2821274" y="255794"/>
                    <a:pt x="2815773" y="261295"/>
                    <a:pt x="2808987" y="261295"/>
                  </a:cubicBezTo>
                  <a:lnTo>
                    <a:pt x="12286" y="261295"/>
                  </a:lnTo>
                  <a:cubicBezTo>
                    <a:pt x="5501" y="261295"/>
                    <a:pt x="0" y="255794"/>
                    <a:pt x="0" y="249008"/>
                  </a:cubicBezTo>
                  <a:lnTo>
                    <a:pt x="0" y="12286"/>
                  </a:lnTo>
                  <a:cubicBezTo>
                    <a:pt x="0" y="5501"/>
                    <a:pt x="5501" y="0"/>
                    <a:pt x="12286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pPr>
                <a:lnSpc>
                  <a:spcPct val="250000"/>
                </a:lnSpc>
              </a:pPr>
              <a:endParaRPr lang="es-CL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2821274" cy="366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250000"/>
                </a:lnSpc>
              </a:pPr>
              <a:r>
                <a:rPr lang="es-CL" sz="22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Desarrollar emisión de certificados digitales en PDF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00007" y="4515497"/>
            <a:ext cx="640522" cy="644441"/>
            <a:chOff x="0" y="0"/>
            <a:chExt cx="918018" cy="92363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8018" cy="923636"/>
            </a:xfrm>
            <a:custGeom>
              <a:avLst/>
              <a:gdLst/>
              <a:ahLst/>
              <a:cxnLst/>
              <a:rect l="l" t="t" r="r" b="b"/>
              <a:pathLst>
                <a:path w="918018" h="923636">
                  <a:moveTo>
                    <a:pt x="459009" y="0"/>
                  </a:moveTo>
                  <a:cubicBezTo>
                    <a:pt x="205505" y="0"/>
                    <a:pt x="0" y="206763"/>
                    <a:pt x="0" y="461818"/>
                  </a:cubicBezTo>
                  <a:cubicBezTo>
                    <a:pt x="0" y="716873"/>
                    <a:pt x="205505" y="923636"/>
                    <a:pt x="459009" y="923636"/>
                  </a:cubicBezTo>
                  <a:cubicBezTo>
                    <a:pt x="712513" y="923636"/>
                    <a:pt x="918018" y="716873"/>
                    <a:pt x="918018" y="461818"/>
                  </a:cubicBezTo>
                  <a:cubicBezTo>
                    <a:pt x="918018" y="206763"/>
                    <a:pt x="712513" y="0"/>
                    <a:pt x="459009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064" y="-56284"/>
              <a:ext cx="745890" cy="893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2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7263339" y="4341665"/>
            <a:ext cx="0" cy="992104"/>
          </a:xfrm>
          <a:prstGeom prst="line">
            <a:avLst/>
          </a:prstGeom>
          <a:ln w="762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24" name="Group 24"/>
          <p:cNvGrpSpPr/>
          <p:nvPr/>
        </p:nvGrpSpPr>
        <p:grpSpPr>
          <a:xfrm>
            <a:off x="7225239" y="5448069"/>
            <a:ext cx="10712023" cy="992104"/>
            <a:chOff x="0" y="0"/>
            <a:chExt cx="2821274" cy="2612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21274" cy="261295"/>
            </a:xfrm>
            <a:custGeom>
              <a:avLst/>
              <a:gdLst/>
              <a:ahLst/>
              <a:cxnLst/>
              <a:rect l="l" t="t" r="r" b="b"/>
              <a:pathLst>
                <a:path w="2821274" h="261295">
                  <a:moveTo>
                    <a:pt x="12286" y="0"/>
                  </a:moveTo>
                  <a:lnTo>
                    <a:pt x="2808987" y="0"/>
                  </a:lnTo>
                  <a:cubicBezTo>
                    <a:pt x="2815773" y="0"/>
                    <a:pt x="2821274" y="5501"/>
                    <a:pt x="2821274" y="12286"/>
                  </a:cubicBezTo>
                  <a:lnTo>
                    <a:pt x="2821274" y="249008"/>
                  </a:lnTo>
                  <a:cubicBezTo>
                    <a:pt x="2821274" y="255794"/>
                    <a:pt x="2815773" y="261295"/>
                    <a:pt x="2808987" y="261295"/>
                  </a:cubicBezTo>
                  <a:lnTo>
                    <a:pt x="12286" y="261295"/>
                  </a:lnTo>
                  <a:cubicBezTo>
                    <a:pt x="5501" y="261295"/>
                    <a:pt x="0" y="255794"/>
                    <a:pt x="0" y="249008"/>
                  </a:cubicBezTo>
                  <a:lnTo>
                    <a:pt x="0" y="12286"/>
                  </a:lnTo>
                  <a:cubicBezTo>
                    <a:pt x="0" y="5501"/>
                    <a:pt x="5501" y="0"/>
                    <a:pt x="12286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pPr>
                <a:lnSpc>
                  <a:spcPct val="250000"/>
                </a:lnSpc>
              </a:pPr>
              <a:endParaRPr lang="es-CL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2821274" cy="366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250000"/>
                </a:lnSpc>
              </a:pPr>
              <a:r>
                <a:rPr lang="es-CL" sz="22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Crear módulos de proyectos comunitarios (postulación y gestión)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00007" y="5621901"/>
            <a:ext cx="640522" cy="644441"/>
            <a:chOff x="0" y="0"/>
            <a:chExt cx="918018" cy="9236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18018" cy="923636"/>
            </a:xfrm>
            <a:custGeom>
              <a:avLst/>
              <a:gdLst/>
              <a:ahLst/>
              <a:cxnLst/>
              <a:rect l="l" t="t" r="r" b="b"/>
              <a:pathLst>
                <a:path w="918018" h="923636">
                  <a:moveTo>
                    <a:pt x="459009" y="0"/>
                  </a:moveTo>
                  <a:cubicBezTo>
                    <a:pt x="205505" y="0"/>
                    <a:pt x="0" y="206763"/>
                    <a:pt x="0" y="461818"/>
                  </a:cubicBezTo>
                  <a:cubicBezTo>
                    <a:pt x="0" y="716873"/>
                    <a:pt x="205505" y="923636"/>
                    <a:pt x="459009" y="923636"/>
                  </a:cubicBezTo>
                  <a:cubicBezTo>
                    <a:pt x="712513" y="923636"/>
                    <a:pt x="918018" y="716873"/>
                    <a:pt x="918018" y="461818"/>
                  </a:cubicBezTo>
                  <a:cubicBezTo>
                    <a:pt x="918018" y="206763"/>
                    <a:pt x="712513" y="0"/>
                    <a:pt x="459009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064" y="-56284"/>
              <a:ext cx="745890" cy="893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3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7263339" y="5448069"/>
            <a:ext cx="0" cy="992104"/>
          </a:xfrm>
          <a:prstGeom prst="line">
            <a:avLst/>
          </a:prstGeom>
          <a:ln w="762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1" name="Group 31"/>
          <p:cNvGrpSpPr/>
          <p:nvPr/>
        </p:nvGrpSpPr>
        <p:grpSpPr>
          <a:xfrm>
            <a:off x="7225239" y="6554473"/>
            <a:ext cx="10712023" cy="992104"/>
            <a:chOff x="0" y="0"/>
            <a:chExt cx="2821274" cy="2612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21274" cy="261295"/>
            </a:xfrm>
            <a:custGeom>
              <a:avLst/>
              <a:gdLst/>
              <a:ahLst/>
              <a:cxnLst/>
              <a:rect l="l" t="t" r="r" b="b"/>
              <a:pathLst>
                <a:path w="2821274" h="261295">
                  <a:moveTo>
                    <a:pt x="12286" y="0"/>
                  </a:moveTo>
                  <a:lnTo>
                    <a:pt x="2808987" y="0"/>
                  </a:lnTo>
                  <a:cubicBezTo>
                    <a:pt x="2815773" y="0"/>
                    <a:pt x="2821274" y="5501"/>
                    <a:pt x="2821274" y="12286"/>
                  </a:cubicBezTo>
                  <a:lnTo>
                    <a:pt x="2821274" y="249008"/>
                  </a:lnTo>
                  <a:cubicBezTo>
                    <a:pt x="2821274" y="255794"/>
                    <a:pt x="2815773" y="261295"/>
                    <a:pt x="2808987" y="261295"/>
                  </a:cubicBezTo>
                  <a:lnTo>
                    <a:pt x="12286" y="261295"/>
                  </a:lnTo>
                  <a:cubicBezTo>
                    <a:pt x="5501" y="261295"/>
                    <a:pt x="0" y="255794"/>
                    <a:pt x="0" y="249008"/>
                  </a:cubicBezTo>
                  <a:lnTo>
                    <a:pt x="0" y="12286"/>
                  </a:lnTo>
                  <a:cubicBezTo>
                    <a:pt x="0" y="5501"/>
                    <a:pt x="5501" y="0"/>
                    <a:pt x="12286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pPr>
                <a:lnSpc>
                  <a:spcPct val="250000"/>
                </a:lnSpc>
              </a:pPr>
              <a:endParaRPr lang="es-CL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04775"/>
              <a:ext cx="2821274" cy="366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250000"/>
                </a:lnSpc>
              </a:pPr>
              <a:r>
                <a:rPr lang="es-CL" sz="22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Incorporar calendario de actividades y notificaciones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00007" y="6728305"/>
            <a:ext cx="640522" cy="644441"/>
            <a:chOff x="0" y="0"/>
            <a:chExt cx="918018" cy="9236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8018" cy="923636"/>
            </a:xfrm>
            <a:custGeom>
              <a:avLst/>
              <a:gdLst/>
              <a:ahLst/>
              <a:cxnLst/>
              <a:rect l="l" t="t" r="r" b="b"/>
              <a:pathLst>
                <a:path w="918018" h="923636">
                  <a:moveTo>
                    <a:pt x="459009" y="0"/>
                  </a:moveTo>
                  <a:cubicBezTo>
                    <a:pt x="205505" y="0"/>
                    <a:pt x="0" y="206763"/>
                    <a:pt x="0" y="461818"/>
                  </a:cubicBezTo>
                  <a:cubicBezTo>
                    <a:pt x="0" y="716873"/>
                    <a:pt x="205505" y="923636"/>
                    <a:pt x="459009" y="923636"/>
                  </a:cubicBezTo>
                  <a:cubicBezTo>
                    <a:pt x="712513" y="923636"/>
                    <a:pt x="918018" y="716873"/>
                    <a:pt x="918018" y="461818"/>
                  </a:cubicBezTo>
                  <a:cubicBezTo>
                    <a:pt x="918018" y="206763"/>
                    <a:pt x="712513" y="0"/>
                    <a:pt x="459009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064" y="-56284"/>
              <a:ext cx="745890" cy="893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4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7263339" y="6554473"/>
            <a:ext cx="0" cy="992104"/>
          </a:xfrm>
          <a:prstGeom prst="line">
            <a:avLst/>
          </a:prstGeom>
          <a:ln w="762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8" name="Group 38"/>
          <p:cNvGrpSpPr/>
          <p:nvPr/>
        </p:nvGrpSpPr>
        <p:grpSpPr>
          <a:xfrm>
            <a:off x="7225239" y="7660877"/>
            <a:ext cx="10712023" cy="992104"/>
            <a:chOff x="0" y="0"/>
            <a:chExt cx="2821274" cy="26129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821274" cy="261295"/>
            </a:xfrm>
            <a:custGeom>
              <a:avLst/>
              <a:gdLst/>
              <a:ahLst/>
              <a:cxnLst/>
              <a:rect l="l" t="t" r="r" b="b"/>
              <a:pathLst>
                <a:path w="2821274" h="261295">
                  <a:moveTo>
                    <a:pt x="12286" y="0"/>
                  </a:moveTo>
                  <a:lnTo>
                    <a:pt x="2808987" y="0"/>
                  </a:lnTo>
                  <a:cubicBezTo>
                    <a:pt x="2815773" y="0"/>
                    <a:pt x="2821274" y="5501"/>
                    <a:pt x="2821274" y="12286"/>
                  </a:cubicBezTo>
                  <a:lnTo>
                    <a:pt x="2821274" y="249008"/>
                  </a:lnTo>
                  <a:cubicBezTo>
                    <a:pt x="2821274" y="255794"/>
                    <a:pt x="2815773" y="261295"/>
                    <a:pt x="2808987" y="261295"/>
                  </a:cubicBezTo>
                  <a:lnTo>
                    <a:pt x="12286" y="261295"/>
                  </a:lnTo>
                  <a:cubicBezTo>
                    <a:pt x="5501" y="261295"/>
                    <a:pt x="0" y="255794"/>
                    <a:pt x="0" y="249008"/>
                  </a:cubicBezTo>
                  <a:lnTo>
                    <a:pt x="0" y="12286"/>
                  </a:lnTo>
                  <a:cubicBezTo>
                    <a:pt x="0" y="5501"/>
                    <a:pt x="5501" y="0"/>
                    <a:pt x="12286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pPr>
                <a:lnSpc>
                  <a:spcPct val="250000"/>
                </a:lnSpc>
              </a:pPr>
              <a:endParaRPr lang="es-CL" noProof="0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04775"/>
              <a:ext cx="2821274" cy="366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250000"/>
                </a:lnSpc>
              </a:pPr>
              <a:r>
                <a:rPr lang="es-CL" sz="22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Integrar sistema de reservas de espacios comunitarios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00007" y="7834709"/>
            <a:ext cx="640522" cy="644441"/>
            <a:chOff x="0" y="0"/>
            <a:chExt cx="918018" cy="92363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18018" cy="923636"/>
            </a:xfrm>
            <a:custGeom>
              <a:avLst/>
              <a:gdLst/>
              <a:ahLst/>
              <a:cxnLst/>
              <a:rect l="l" t="t" r="r" b="b"/>
              <a:pathLst>
                <a:path w="918018" h="923636">
                  <a:moveTo>
                    <a:pt x="459009" y="0"/>
                  </a:moveTo>
                  <a:cubicBezTo>
                    <a:pt x="205505" y="0"/>
                    <a:pt x="0" y="206763"/>
                    <a:pt x="0" y="461818"/>
                  </a:cubicBezTo>
                  <a:cubicBezTo>
                    <a:pt x="0" y="716873"/>
                    <a:pt x="205505" y="923636"/>
                    <a:pt x="459009" y="923636"/>
                  </a:cubicBezTo>
                  <a:cubicBezTo>
                    <a:pt x="712513" y="923636"/>
                    <a:pt x="918018" y="716873"/>
                    <a:pt x="918018" y="461818"/>
                  </a:cubicBezTo>
                  <a:cubicBezTo>
                    <a:pt x="918018" y="206763"/>
                    <a:pt x="712513" y="0"/>
                    <a:pt x="459009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064" y="-56284"/>
              <a:ext cx="745890" cy="893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5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>
            <a:off x="7263339" y="7660877"/>
            <a:ext cx="0" cy="992104"/>
          </a:xfrm>
          <a:prstGeom prst="line">
            <a:avLst/>
          </a:prstGeom>
          <a:ln w="762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45" name="Group 45"/>
          <p:cNvGrpSpPr/>
          <p:nvPr/>
        </p:nvGrpSpPr>
        <p:grpSpPr>
          <a:xfrm>
            <a:off x="7225239" y="8767281"/>
            <a:ext cx="10712023" cy="992104"/>
            <a:chOff x="0" y="0"/>
            <a:chExt cx="2821274" cy="26129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821274" cy="261295"/>
            </a:xfrm>
            <a:custGeom>
              <a:avLst/>
              <a:gdLst/>
              <a:ahLst/>
              <a:cxnLst/>
              <a:rect l="l" t="t" r="r" b="b"/>
              <a:pathLst>
                <a:path w="2821274" h="261295">
                  <a:moveTo>
                    <a:pt x="12286" y="0"/>
                  </a:moveTo>
                  <a:lnTo>
                    <a:pt x="2808987" y="0"/>
                  </a:lnTo>
                  <a:cubicBezTo>
                    <a:pt x="2815773" y="0"/>
                    <a:pt x="2821274" y="5501"/>
                    <a:pt x="2821274" y="12286"/>
                  </a:cubicBezTo>
                  <a:lnTo>
                    <a:pt x="2821274" y="249008"/>
                  </a:lnTo>
                  <a:cubicBezTo>
                    <a:pt x="2821274" y="255794"/>
                    <a:pt x="2815773" y="261295"/>
                    <a:pt x="2808987" y="261295"/>
                  </a:cubicBezTo>
                  <a:lnTo>
                    <a:pt x="12286" y="261295"/>
                  </a:lnTo>
                  <a:cubicBezTo>
                    <a:pt x="5501" y="261295"/>
                    <a:pt x="0" y="255794"/>
                    <a:pt x="0" y="249008"/>
                  </a:cubicBezTo>
                  <a:lnTo>
                    <a:pt x="0" y="12286"/>
                  </a:lnTo>
                  <a:cubicBezTo>
                    <a:pt x="0" y="5501"/>
                    <a:pt x="5501" y="0"/>
                    <a:pt x="12286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pPr>
                <a:lnSpc>
                  <a:spcPct val="250000"/>
                </a:lnSpc>
              </a:pPr>
              <a:endParaRPr lang="es-CL" noProof="0" dirty="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04775"/>
              <a:ext cx="2821274" cy="366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ct val="250000"/>
                </a:lnSpc>
              </a:pPr>
              <a:r>
                <a:rPr lang="es-CL" sz="22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Implementar pruebas y documentación técnica completa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00007" y="8941113"/>
            <a:ext cx="640522" cy="644441"/>
            <a:chOff x="0" y="0"/>
            <a:chExt cx="918018" cy="92363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18018" cy="923636"/>
            </a:xfrm>
            <a:custGeom>
              <a:avLst/>
              <a:gdLst/>
              <a:ahLst/>
              <a:cxnLst/>
              <a:rect l="l" t="t" r="r" b="b"/>
              <a:pathLst>
                <a:path w="918018" h="923636">
                  <a:moveTo>
                    <a:pt x="459009" y="0"/>
                  </a:moveTo>
                  <a:cubicBezTo>
                    <a:pt x="205505" y="0"/>
                    <a:pt x="0" y="206763"/>
                    <a:pt x="0" y="461818"/>
                  </a:cubicBezTo>
                  <a:cubicBezTo>
                    <a:pt x="0" y="716873"/>
                    <a:pt x="205505" y="923636"/>
                    <a:pt x="459009" y="923636"/>
                  </a:cubicBezTo>
                  <a:cubicBezTo>
                    <a:pt x="712513" y="923636"/>
                    <a:pt x="918018" y="716873"/>
                    <a:pt x="918018" y="461818"/>
                  </a:cubicBezTo>
                  <a:cubicBezTo>
                    <a:pt x="918018" y="206763"/>
                    <a:pt x="712513" y="0"/>
                    <a:pt x="459009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064" y="-56284"/>
              <a:ext cx="745890" cy="893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6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>
            <a:off x="7263339" y="8767281"/>
            <a:ext cx="0" cy="992104"/>
          </a:xfrm>
          <a:prstGeom prst="line">
            <a:avLst/>
          </a:prstGeom>
          <a:ln w="762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2" name="TextBox 52"/>
          <p:cNvSpPr txBox="1"/>
          <p:nvPr/>
        </p:nvSpPr>
        <p:spPr>
          <a:xfrm>
            <a:off x="7225239" y="2574063"/>
            <a:ext cx="1071202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  <a:spcBef>
                <a:spcPct val="0"/>
              </a:spcBef>
            </a:pPr>
            <a:r>
              <a:rPr lang="es-CL" sz="2100" noProof="0" dirty="0">
                <a:solidFill>
                  <a:srgbClr val="2E2E2E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OBJETIVOS ESPECÍFICOS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10163" y="-105182"/>
            <a:ext cx="9799267" cy="1934593"/>
            <a:chOff x="0" y="0"/>
            <a:chExt cx="2580877" cy="5095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80877" cy="509523"/>
            </a:xfrm>
            <a:custGeom>
              <a:avLst/>
              <a:gdLst/>
              <a:ahLst/>
              <a:cxnLst/>
              <a:rect l="l" t="t" r="r" b="b"/>
              <a:pathLst>
                <a:path w="2580877" h="509523">
                  <a:moveTo>
                    <a:pt x="33182" y="0"/>
                  </a:moveTo>
                  <a:lnTo>
                    <a:pt x="2547695" y="0"/>
                  </a:lnTo>
                  <a:cubicBezTo>
                    <a:pt x="2556495" y="0"/>
                    <a:pt x="2564935" y="3496"/>
                    <a:pt x="2571158" y="9719"/>
                  </a:cubicBezTo>
                  <a:cubicBezTo>
                    <a:pt x="2577381" y="15942"/>
                    <a:pt x="2580877" y="24382"/>
                    <a:pt x="2580877" y="33182"/>
                  </a:cubicBezTo>
                  <a:lnTo>
                    <a:pt x="2580877" y="476340"/>
                  </a:lnTo>
                  <a:cubicBezTo>
                    <a:pt x="2580877" y="494666"/>
                    <a:pt x="2566021" y="509523"/>
                    <a:pt x="2547695" y="509523"/>
                  </a:cubicBezTo>
                  <a:lnTo>
                    <a:pt x="33182" y="509523"/>
                  </a:lnTo>
                  <a:cubicBezTo>
                    <a:pt x="14856" y="509523"/>
                    <a:pt x="0" y="494666"/>
                    <a:pt x="0" y="476340"/>
                  </a:cubicBezTo>
                  <a:lnTo>
                    <a:pt x="0" y="33182"/>
                  </a:lnTo>
                  <a:cubicBezTo>
                    <a:pt x="0" y="14856"/>
                    <a:pt x="14856" y="0"/>
                    <a:pt x="331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64A66">
                    <a:alpha val="100000"/>
                  </a:srgbClr>
                </a:gs>
                <a:gs pos="100000">
                  <a:srgbClr val="1C6D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2580877" cy="64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 lang="es-CL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85171" y="7472994"/>
            <a:ext cx="11124849" cy="2447803"/>
            <a:chOff x="0" y="-1"/>
            <a:chExt cx="2930001" cy="6446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30001" cy="644688"/>
            </a:xfrm>
            <a:custGeom>
              <a:avLst/>
              <a:gdLst/>
              <a:ahLst/>
              <a:cxnLst/>
              <a:rect l="l" t="t" r="r" b="b"/>
              <a:pathLst>
                <a:path w="2930001" h="644688">
                  <a:moveTo>
                    <a:pt x="11831" y="0"/>
                  </a:moveTo>
                  <a:lnTo>
                    <a:pt x="2918171" y="0"/>
                  </a:lnTo>
                  <a:cubicBezTo>
                    <a:pt x="2924705" y="0"/>
                    <a:pt x="2930001" y="5297"/>
                    <a:pt x="2930001" y="11831"/>
                  </a:cubicBezTo>
                  <a:lnTo>
                    <a:pt x="2930001" y="632857"/>
                  </a:lnTo>
                  <a:cubicBezTo>
                    <a:pt x="2930001" y="639391"/>
                    <a:pt x="2924705" y="644688"/>
                    <a:pt x="2918171" y="644688"/>
                  </a:cubicBezTo>
                  <a:lnTo>
                    <a:pt x="11831" y="644688"/>
                  </a:lnTo>
                  <a:cubicBezTo>
                    <a:pt x="5297" y="644688"/>
                    <a:pt x="0" y="639391"/>
                    <a:pt x="0" y="632857"/>
                  </a:cubicBezTo>
                  <a:lnTo>
                    <a:pt x="0" y="11831"/>
                  </a:lnTo>
                  <a:cubicBezTo>
                    <a:pt x="0" y="5297"/>
                    <a:pt x="5297" y="0"/>
                    <a:pt x="11831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"/>
              <a:ext cx="2930001" cy="64468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570"/>
                </a:lnSpc>
              </a:pPr>
              <a:r>
                <a:rPr lang="es-CL" sz="2100" b="1" noProof="0" dirty="0">
                  <a:solidFill>
                    <a:srgbClr val="FFFFFF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POR QUÉ SCRUM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 proyecto requiere entregas incrementales, cambios frecuentes según </a:t>
              </a:r>
              <a:r>
                <a:rPr lang="es-CL" sz="2100" noProof="0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feedback</a:t>
              </a:r>
              <a:r>
                <a:rPr lang="es-CL" sz="2100" noProof="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y mejoras constantes durante el desarrollo. Scrum permite adaptarse rápidamente a nuevos requerimientos.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85171" y="4480258"/>
            <a:ext cx="11124849" cy="2755823"/>
            <a:chOff x="0" y="-318"/>
            <a:chExt cx="2930001" cy="7258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30001" cy="725495"/>
            </a:xfrm>
            <a:custGeom>
              <a:avLst/>
              <a:gdLst/>
              <a:ahLst/>
              <a:cxnLst/>
              <a:rect l="l" t="t" r="r" b="b"/>
              <a:pathLst>
                <a:path w="2930001" h="725495">
                  <a:moveTo>
                    <a:pt x="11831" y="0"/>
                  </a:moveTo>
                  <a:lnTo>
                    <a:pt x="2918171" y="0"/>
                  </a:lnTo>
                  <a:cubicBezTo>
                    <a:pt x="2924705" y="0"/>
                    <a:pt x="2930001" y="5297"/>
                    <a:pt x="2930001" y="11831"/>
                  </a:cubicBezTo>
                  <a:lnTo>
                    <a:pt x="2930001" y="713665"/>
                  </a:lnTo>
                  <a:cubicBezTo>
                    <a:pt x="2930001" y="720199"/>
                    <a:pt x="2924705" y="725495"/>
                    <a:pt x="2918171" y="725495"/>
                  </a:cubicBezTo>
                  <a:lnTo>
                    <a:pt x="11831" y="725495"/>
                  </a:lnTo>
                  <a:cubicBezTo>
                    <a:pt x="5297" y="725495"/>
                    <a:pt x="0" y="720199"/>
                    <a:pt x="0" y="713665"/>
                  </a:cubicBezTo>
                  <a:lnTo>
                    <a:pt x="0" y="11831"/>
                  </a:lnTo>
                  <a:cubicBezTo>
                    <a:pt x="0" y="5297"/>
                    <a:pt x="5297" y="0"/>
                    <a:pt x="11831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18"/>
              <a:ext cx="2930001" cy="725814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570"/>
                </a:lnSpc>
              </a:pPr>
              <a:r>
                <a:rPr lang="es-CL" sz="2100" b="1" noProof="0" dirty="0">
                  <a:solidFill>
                    <a:srgbClr val="24566D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HERRAMIENTAS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51099" y="5220686"/>
            <a:ext cx="3306340" cy="1770479"/>
            <a:chOff x="0" y="0"/>
            <a:chExt cx="870806" cy="4662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0805" cy="466299"/>
            </a:xfrm>
            <a:custGeom>
              <a:avLst/>
              <a:gdLst/>
              <a:ahLst/>
              <a:cxnLst/>
              <a:rect l="l" t="t" r="r" b="b"/>
              <a:pathLst>
                <a:path w="870805" h="466299">
                  <a:moveTo>
                    <a:pt x="39806" y="0"/>
                  </a:moveTo>
                  <a:lnTo>
                    <a:pt x="830999" y="0"/>
                  </a:lnTo>
                  <a:cubicBezTo>
                    <a:pt x="841557" y="0"/>
                    <a:pt x="851681" y="4194"/>
                    <a:pt x="859146" y="11659"/>
                  </a:cubicBezTo>
                  <a:cubicBezTo>
                    <a:pt x="866612" y="19124"/>
                    <a:pt x="870805" y="29249"/>
                    <a:pt x="870805" y="39806"/>
                  </a:cubicBezTo>
                  <a:lnTo>
                    <a:pt x="870805" y="426493"/>
                  </a:lnTo>
                  <a:cubicBezTo>
                    <a:pt x="870805" y="437050"/>
                    <a:pt x="866612" y="447175"/>
                    <a:pt x="859146" y="454640"/>
                  </a:cubicBezTo>
                  <a:cubicBezTo>
                    <a:pt x="851681" y="462105"/>
                    <a:pt x="841557" y="466299"/>
                    <a:pt x="830999" y="466299"/>
                  </a:cubicBezTo>
                  <a:lnTo>
                    <a:pt x="39806" y="466299"/>
                  </a:lnTo>
                  <a:cubicBezTo>
                    <a:pt x="29249" y="466299"/>
                    <a:pt x="19124" y="462105"/>
                    <a:pt x="11659" y="454640"/>
                  </a:cubicBezTo>
                  <a:cubicBezTo>
                    <a:pt x="4194" y="447175"/>
                    <a:pt x="0" y="437050"/>
                    <a:pt x="0" y="426493"/>
                  </a:cubicBezTo>
                  <a:lnTo>
                    <a:pt x="0" y="39806"/>
                  </a:lnTo>
                  <a:cubicBezTo>
                    <a:pt x="0" y="29249"/>
                    <a:pt x="4194" y="19124"/>
                    <a:pt x="11659" y="11659"/>
                  </a:cubicBezTo>
                  <a:cubicBezTo>
                    <a:pt x="19124" y="4194"/>
                    <a:pt x="29249" y="0"/>
                    <a:pt x="39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870806" cy="580599"/>
            </a:xfrm>
            <a:prstGeom prst="rect">
              <a:avLst/>
            </a:prstGeom>
          </p:spPr>
          <p:txBody>
            <a:bodyPr lIns="254000" tIns="254000" rIns="254000" bIns="254000" rtlCol="0" anchor="b"/>
            <a:lstStyle/>
            <a:p>
              <a:pPr algn="ctr">
                <a:lnSpc>
                  <a:spcPts val="2720"/>
                </a:lnSpc>
              </a:pPr>
              <a:r>
                <a:rPr lang="es-CL" sz="1600" b="1" noProof="0" dirty="0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Trello</a:t>
              </a:r>
            </a:p>
            <a:p>
              <a:pPr algn="ctr">
                <a:lnSpc>
                  <a:spcPts val="2720"/>
                </a:lnSpc>
              </a:pPr>
              <a:r>
                <a:rPr lang="es-CL" sz="1600" noProof="0" dirty="0">
                  <a:solidFill>
                    <a:srgbClr val="2E2E2E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Gestión tareas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793287" y="5220686"/>
            <a:ext cx="3306340" cy="1770479"/>
            <a:chOff x="0" y="0"/>
            <a:chExt cx="870806" cy="4662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0805" cy="466299"/>
            </a:xfrm>
            <a:custGeom>
              <a:avLst/>
              <a:gdLst/>
              <a:ahLst/>
              <a:cxnLst/>
              <a:rect l="l" t="t" r="r" b="b"/>
              <a:pathLst>
                <a:path w="870805" h="466299">
                  <a:moveTo>
                    <a:pt x="39806" y="0"/>
                  </a:moveTo>
                  <a:lnTo>
                    <a:pt x="830999" y="0"/>
                  </a:lnTo>
                  <a:cubicBezTo>
                    <a:pt x="841557" y="0"/>
                    <a:pt x="851681" y="4194"/>
                    <a:pt x="859146" y="11659"/>
                  </a:cubicBezTo>
                  <a:cubicBezTo>
                    <a:pt x="866612" y="19124"/>
                    <a:pt x="870805" y="29249"/>
                    <a:pt x="870805" y="39806"/>
                  </a:cubicBezTo>
                  <a:lnTo>
                    <a:pt x="870805" y="426493"/>
                  </a:lnTo>
                  <a:cubicBezTo>
                    <a:pt x="870805" y="437050"/>
                    <a:pt x="866612" y="447175"/>
                    <a:pt x="859146" y="454640"/>
                  </a:cubicBezTo>
                  <a:cubicBezTo>
                    <a:pt x="851681" y="462105"/>
                    <a:pt x="841557" y="466299"/>
                    <a:pt x="830999" y="466299"/>
                  </a:cubicBezTo>
                  <a:lnTo>
                    <a:pt x="39806" y="466299"/>
                  </a:lnTo>
                  <a:cubicBezTo>
                    <a:pt x="29249" y="466299"/>
                    <a:pt x="19124" y="462105"/>
                    <a:pt x="11659" y="454640"/>
                  </a:cubicBezTo>
                  <a:cubicBezTo>
                    <a:pt x="4194" y="447175"/>
                    <a:pt x="0" y="437050"/>
                    <a:pt x="0" y="426493"/>
                  </a:cubicBezTo>
                  <a:lnTo>
                    <a:pt x="0" y="39806"/>
                  </a:lnTo>
                  <a:cubicBezTo>
                    <a:pt x="0" y="29249"/>
                    <a:pt x="4194" y="19124"/>
                    <a:pt x="11659" y="11659"/>
                  </a:cubicBezTo>
                  <a:cubicBezTo>
                    <a:pt x="19124" y="4194"/>
                    <a:pt x="29249" y="0"/>
                    <a:pt x="39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14300"/>
              <a:ext cx="870806" cy="580599"/>
            </a:xfrm>
            <a:prstGeom prst="rect">
              <a:avLst/>
            </a:prstGeom>
          </p:spPr>
          <p:txBody>
            <a:bodyPr lIns="254000" tIns="254000" rIns="254000" bIns="254000" rtlCol="0" anchor="b"/>
            <a:lstStyle/>
            <a:p>
              <a:pPr algn="ctr">
                <a:lnSpc>
                  <a:spcPts val="2720"/>
                </a:lnSpc>
              </a:pPr>
              <a:r>
                <a:rPr lang="es-CL" sz="1600" b="1" noProof="0" dirty="0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GitHub</a:t>
              </a:r>
            </a:p>
            <a:p>
              <a:pPr algn="ctr">
                <a:lnSpc>
                  <a:spcPts val="2720"/>
                </a:lnSpc>
              </a:pPr>
              <a:r>
                <a:rPr lang="es-CL" sz="1600" noProof="0" dirty="0">
                  <a:solidFill>
                    <a:srgbClr val="2E2E2E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Control versiones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337752" y="5220686"/>
            <a:ext cx="3306340" cy="1770479"/>
            <a:chOff x="0" y="0"/>
            <a:chExt cx="870806" cy="4662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0805" cy="466299"/>
            </a:xfrm>
            <a:custGeom>
              <a:avLst/>
              <a:gdLst/>
              <a:ahLst/>
              <a:cxnLst/>
              <a:rect l="l" t="t" r="r" b="b"/>
              <a:pathLst>
                <a:path w="870805" h="466299">
                  <a:moveTo>
                    <a:pt x="39806" y="0"/>
                  </a:moveTo>
                  <a:lnTo>
                    <a:pt x="830999" y="0"/>
                  </a:lnTo>
                  <a:cubicBezTo>
                    <a:pt x="841557" y="0"/>
                    <a:pt x="851681" y="4194"/>
                    <a:pt x="859146" y="11659"/>
                  </a:cubicBezTo>
                  <a:cubicBezTo>
                    <a:pt x="866612" y="19124"/>
                    <a:pt x="870805" y="29249"/>
                    <a:pt x="870805" y="39806"/>
                  </a:cubicBezTo>
                  <a:lnTo>
                    <a:pt x="870805" y="426493"/>
                  </a:lnTo>
                  <a:cubicBezTo>
                    <a:pt x="870805" y="437050"/>
                    <a:pt x="866612" y="447175"/>
                    <a:pt x="859146" y="454640"/>
                  </a:cubicBezTo>
                  <a:cubicBezTo>
                    <a:pt x="851681" y="462105"/>
                    <a:pt x="841557" y="466299"/>
                    <a:pt x="830999" y="466299"/>
                  </a:cubicBezTo>
                  <a:lnTo>
                    <a:pt x="39806" y="466299"/>
                  </a:lnTo>
                  <a:cubicBezTo>
                    <a:pt x="29249" y="466299"/>
                    <a:pt x="19124" y="462105"/>
                    <a:pt x="11659" y="454640"/>
                  </a:cubicBezTo>
                  <a:cubicBezTo>
                    <a:pt x="4194" y="447175"/>
                    <a:pt x="0" y="437050"/>
                    <a:pt x="0" y="426493"/>
                  </a:cubicBezTo>
                  <a:lnTo>
                    <a:pt x="0" y="39806"/>
                  </a:lnTo>
                  <a:cubicBezTo>
                    <a:pt x="0" y="29249"/>
                    <a:pt x="4194" y="19124"/>
                    <a:pt x="11659" y="11659"/>
                  </a:cubicBezTo>
                  <a:cubicBezTo>
                    <a:pt x="19124" y="4194"/>
                    <a:pt x="29249" y="0"/>
                    <a:pt x="39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14300"/>
              <a:ext cx="870806" cy="580599"/>
            </a:xfrm>
            <a:prstGeom prst="rect">
              <a:avLst/>
            </a:prstGeom>
          </p:spPr>
          <p:txBody>
            <a:bodyPr lIns="254000" tIns="254000" rIns="254000" bIns="254000" rtlCol="0" anchor="b"/>
            <a:lstStyle/>
            <a:p>
              <a:pPr algn="ctr">
                <a:lnSpc>
                  <a:spcPts val="2720"/>
                </a:lnSpc>
              </a:pPr>
              <a:r>
                <a:rPr lang="es-CL" sz="1600" b="1" noProof="0" dirty="0" err="1">
                  <a:solidFill>
                    <a:srgbClr val="000000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Figma</a:t>
              </a:r>
              <a:endParaRPr lang="es-CL" sz="1600" b="1" noProof="0" dirty="0">
                <a:solidFill>
                  <a:srgbClr val="000000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endParaRPr>
            </a:p>
            <a:p>
              <a:pPr algn="ctr">
                <a:lnSpc>
                  <a:spcPts val="2720"/>
                </a:lnSpc>
              </a:pPr>
              <a:r>
                <a:rPr lang="es-CL" sz="1600" noProof="0" dirty="0">
                  <a:solidFill>
                    <a:srgbClr val="2E2E2E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Diseño UI/UX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568033" y="5433453"/>
            <a:ext cx="672472" cy="672472"/>
          </a:xfrm>
          <a:custGeom>
            <a:avLst/>
            <a:gdLst/>
            <a:ahLst/>
            <a:cxnLst/>
            <a:rect l="l" t="t" r="r" b="b"/>
            <a:pathLst>
              <a:path w="672472" h="672472">
                <a:moveTo>
                  <a:pt x="0" y="0"/>
                </a:moveTo>
                <a:lnTo>
                  <a:pt x="672472" y="0"/>
                </a:lnTo>
                <a:lnTo>
                  <a:pt x="672472" y="672472"/>
                </a:lnTo>
                <a:lnTo>
                  <a:pt x="0" y="672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Freeform 22"/>
          <p:cNvSpPr/>
          <p:nvPr/>
        </p:nvSpPr>
        <p:spPr>
          <a:xfrm>
            <a:off x="12112760" y="5433453"/>
            <a:ext cx="667395" cy="667395"/>
          </a:xfrm>
          <a:custGeom>
            <a:avLst/>
            <a:gdLst/>
            <a:ahLst/>
            <a:cxnLst/>
            <a:rect l="l" t="t" r="r" b="b"/>
            <a:pathLst>
              <a:path w="667395" h="667395">
                <a:moveTo>
                  <a:pt x="0" y="0"/>
                </a:moveTo>
                <a:lnTo>
                  <a:pt x="667395" y="0"/>
                </a:lnTo>
                <a:lnTo>
                  <a:pt x="667395" y="667395"/>
                </a:lnTo>
                <a:lnTo>
                  <a:pt x="0" y="6673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Freeform 23"/>
          <p:cNvSpPr/>
          <p:nvPr/>
        </p:nvSpPr>
        <p:spPr>
          <a:xfrm>
            <a:off x="15734603" y="5433453"/>
            <a:ext cx="482193" cy="667395"/>
          </a:xfrm>
          <a:custGeom>
            <a:avLst/>
            <a:gdLst/>
            <a:ahLst/>
            <a:cxnLst/>
            <a:rect l="l" t="t" r="r" b="b"/>
            <a:pathLst>
              <a:path w="482193" h="667395">
                <a:moveTo>
                  <a:pt x="0" y="0"/>
                </a:moveTo>
                <a:lnTo>
                  <a:pt x="482193" y="0"/>
                </a:lnTo>
                <a:lnTo>
                  <a:pt x="482193" y="667395"/>
                </a:lnTo>
                <a:lnTo>
                  <a:pt x="0" y="6673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24" name="Group 24"/>
          <p:cNvGrpSpPr/>
          <p:nvPr/>
        </p:nvGrpSpPr>
        <p:grpSpPr>
          <a:xfrm>
            <a:off x="6885171" y="2194491"/>
            <a:ext cx="11124849" cy="2048849"/>
            <a:chOff x="0" y="-1"/>
            <a:chExt cx="2930001" cy="53961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30001" cy="539613"/>
            </a:xfrm>
            <a:custGeom>
              <a:avLst/>
              <a:gdLst/>
              <a:ahLst/>
              <a:cxnLst/>
              <a:rect l="l" t="t" r="r" b="b"/>
              <a:pathLst>
                <a:path w="2930001" h="539613">
                  <a:moveTo>
                    <a:pt x="11831" y="0"/>
                  </a:moveTo>
                  <a:lnTo>
                    <a:pt x="2918171" y="0"/>
                  </a:lnTo>
                  <a:cubicBezTo>
                    <a:pt x="2924705" y="0"/>
                    <a:pt x="2930001" y="5297"/>
                    <a:pt x="2930001" y="11831"/>
                  </a:cubicBezTo>
                  <a:lnTo>
                    <a:pt x="2930001" y="527783"/>
                  </a:lnTo>
                  <a:cubicBezTo>
                    <a:pt x="2930001" y="534317"/>
                    <a:pt x="2924705" y="539613"/>
                    <a:pt x="2918171" y="539613"/>
                  </a:cubicBezTo>
                  <a:lnTo>
                    <a:pt x="11831" y="539613"/>
                  </a:lnTo>
                  <a:cubicBezTo>
                    <a:pt x="5297" y="539613"/>
                    <a:pt x="0" y="534317"/>
                    <a:pt x="0" y="527783"/>
                  </a:cubicBezTo>
                  <a:lnTo>
                    <a:pt x="0" y="11831"/>
                  </a:lnTo>
                  <a:cubicBezTo>
                    <a:pt x="0" y="5297"/>
                    <a:pt x="5297" y="0"/>
                    <a:pt x="11831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"/>
              <a:ext cx="2930001" cy="539614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marL="453392" lvl="1" indent="-226696" algn="l">
                <a:lnSpc>
                  <a:spcPts val="3570"/>
                </a:lnSpc>
                <a:buAutoNum type="arabicPeriod"/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</a:t>
              </a:r>
              <a:r>
                <a:rPr lang="es-CL" sz="2100" noProof="0" dirty="0" err="1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Sprints</a:t>
              </a: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de desarrollo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Iteraciones quincenales con entregables funcionales al final de cada sprint. Backlog priorizado por épicas e historias de usuario.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90661" y="1860615"/>
            <a:ext cx="525814" cy="1068292"/>
            <a:chOff x="0" y="-142875"/>
            <a:chExt cx="138486" cy="2813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8486" cy="138486"/>
            </a:xfrm>
            <a:custGeom>
              <a:avLst/>
              <a:gdLst/>
              <a:ahLst/>
              <a:cxnLst/>
              <a:rect l="l" t="t" r="r" b="b"/>
              <a:pathLst>
                <a:path w="138486" h="138486">
                  <a:moveTo>
                    <a:pt x="69243" y="0"/>
                  </a:moveTo>
                  <a:lnTo>
                    <a:pt x="69243" y="0"/>
                  </a:lnTo>
                  <a:cubicBezTo>
                    <a:pt x="87607" y="0"/>
                    <a:pt x="105220" y="7295"/>
                    <a:pt x="118205" y="20281"/>
                  </a:cubicBezTo>
                  <a:cubicBezTo>
                    <a:pt x="131191" y="33266"/>
                    <a:pt x="138486" y="50879"/>
                    <a:pt x="138486" y="69243"/>
                  </a:cubicBezTo>
                  <a:lnTo>
                    <a:pt x="138486" y="69243"/>
                  </a:lnTo>
                  <a:cubicBezTo>
                    <a:pt x="138486" y="87607"/>
                    <a:pt x="131191" y="105220"/>
                    <a:pt x="118205" y="118205"/>
                  </a:cubicBezTo>
                  <a:cubicBezTo>
                    <a:pt x="105220" y="131191"/>
                    <a:pt x="87607" y="138486"/>
                    <a:pt x="69243" y="138486"/>
                  </a:cubicBezTo>
                  <a:lnTo>
                    <a:pt x="69243" y="138486"/>
                  </a:lnTo>
                  <a:cubicBezTo>
                    <a:pt x="50879" y="138486"/>
                    <a:pt x="33266" y="131191"/>
                    <a:pt x="20281" y="118205"/>
                  </a:cubicBezTo>
                  <a:cubicBezTo>
                    <a:pt x="7295" y="105220"/>
                    <a:pt x="0" y="87607"/>
                    <a:pt x="0" y="69243"/>
                  </a:cubicBezTo>
                  <a:lnTo>
                    <a:pt x="0" y="69243"/>
                  </a:lnTo>
                  <a:cubicBezTo>
                    <a:pt x="0" y="50879"/>
                    <a:pt x="7295" y="33266"/>
                    <a:pt x="20281" y="20281"/>
                  </a:cubicBezTo>
                  <a:cubicBezTo>
                    <a:pt x="33266" y="7295"/>
                    <a:pt x="50879" y="0"/>
                    <a:pt x="69243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42875"/>
              <a:ext cx="138486" cy="281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30" name="AutoShape 30"/>
          <p:cNvSpPr/>
          <p:nvPr/>
        </p:nvSpPr>
        <p:spPr>
          <a:xfrm>
            <a:off x="6885171" y="2194495"/>
            <a:ext cx="0" cy="2048845"/>
          </a:xfrm>
          <a:prstGeom prst="line">
            <a:avLst/>
          </a:prstGeom>
          <a:ln w="161925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AutoShape 31"/>
          <p:cNvSpPr/>
          <p:nvPr/>
        </p:nvSpPr>
        <p:spPr>
          <a:xfrm>
            <a:off x="6885171" y="4481465"/>
            <a:ext cx="0" cy="2754616"/>
          </a:xfrm>
          <a:prstGeom prst="line">
            <a:avLst/>
          </a:prstGeom>
          <a:ln w="161925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Freeform 32"/>
          <p:cNvSpPr/>
          <p:nvPr/>
        </p:nvSpPr>
        <p:spPr>
          <a:xfrm>
            <a:off x="7186662" y="2508303"/>
            <a:ext cx="357137" cy="301226"/>
          </a:xfrm>
          <a:custGeom>
            <a:avLst/>
            <a:gdLst/>
            <a:ahLst/>
            <a:cxnLst/>
            <a:rect l="l" t="t" r="r" b="b"/>
            <a:pathLst>
              <a:path w="409978" h="305946">
                <a:moveTo>
                  <a:pt x="0" y="0"/>
                </a:moveTo>
                <a:lnTo>
                  <a:pt x="409979" y="0"/>
                </a:lnTo>
                <a:lnTo>
                  <a:pt x="409979" y="305947"/>
                </a:lnTo>
                <a:lnTo>
                  <a:pt x="0" y="3059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33" name="TextBox 33"/>
          <p:cNvSpPr txBox="1"/>
          <p:nvPr/>
        </p:nvSpPr>
        <p:spPr>
          <a:xfrm>
            <a:off x="514350" y="283208"/>
            <a:ext cx="8545713" cy="112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0"/>
              </a:lnSpc>
              <a:spcBef>
                <a:spcPct val="0"/>
              </a:spcBef>
            </a:pPr>
            <a:r>
              <a:rPr lang="es-CL" sz="7100" spc="-142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Metodología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221388" y="6100848"/>
            <a:ext cx="6297070" cy="3814872"/>
            <a:chOff x="0" y="0"/>
            <a:chExt cx="1658488" cy="10047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58488" cy="1004740"/>
            </a:xfrm>
            <a:custGeom>
              <a:avLst/>
              <a:gdLst/>
              <a:ahLst/>
              <a:cxnLst/>
              <a:rect l="l" t="t" r="r" b="b"/>
              <a:pathLst>
                <a:path w="1658488" h="1004740">
                  <a:moveTo>
                    <a:pt x="20901" y="0"/>
                  </a:moveTo>
                  <a:lnTo>
                    <a:pt x="1637587" y="0"/>
                  </a:lnTo>
                  <a:cubicBezTo>
                    <a:pt x="1649130" y="0"/>
                    <a:pt x="1658488" y="9358"/>
                    <a:pt x="1658488" y="20901"/>
                  </a:cubicBezTo>
                  <a:lnTo>
                    <a:pt x="1658488" y="983839"/>
                  </a:lnTo>
                  <a:cubicBezTo>
                    <a:pt x="1658488" y="989383"/>
                    <a:pt x="1656286" y="994699"/>
                    <a:pt x="1652366" y="998618"/>
                  </a:cubicBezTo>
                  <a:cubicBezTo>
                    <a:pt x="1648446" y="1002538"/>
                    <a:pt x="1643130" y="1004740"/>
                    <a:pt x="1637587" y="1004740"/>
                  </a:cubicBezTo>
                  <a:lnTo>
                    <a:pt x="20901" y="1004740"/>
                  </a:lnTo>
                  <a:cubicBezTo>
                    <a:pt x="15357" y="1004740"/>
                    <a:pt x="10041" y="1002538"/>
                    <a:pt x="6122" y="998618"/>
                  </a:cubicBezTo>
                  <a:cubicBezTo>
                    <a:pt x="2202" y="994699"/>
                    <a:pt x="0" y="989383"/>
                    <a:pt x="0" y="983839"/>
                  </a:cubicBezTo>
                  <a:lnTo>
                    <a:pt x="0" y="20901"/>
                  </a:lnTo>
                  <a:cubicBezTo>
                    <a:pt x="0" y="15357"/>
                    <a:pt x="2202" y="10041"/>
                    <a:pt x="6122" y="6122"/>
                  </a:cubicBezTo>
                  <a:cubicBezTo>
                    <a:pt x="10041" y="2202"/>
                    <a:pt x="15357" y="0"/>
                    <a:pt x="20901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658488" cy="1004740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570"/>
                </a:lnSpc>
              </a:pPr>
              <a:r>
                <a:rPr lang="es-CL" sz="2100" b="1" noProof="0" dirty="0">
                  <a:solidFill>
                    <a:srgbClr val="24566D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EQUIPO</a:t>
              </a:r>
            </a:p>
            <a:p>
              <a:pPr algn="l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</a:t>
              </a:r>
              <a:r>
                <a:rPr lang="es-CL" sz="1900" b="1" noProof="0" dirty="0">
                  <a:solidFill>
                    <a:srgbClr val="24566D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Fabrizzio Riffo</a:t>
              </a:r>
            </a:p>
            <a:p>
              <a:pPr algn="l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</a:t>
              </a:r>
              <a:r>
                <a:rPr lang="es-CL" sz="19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Product</a:t>
              </a:r>
              <a:r>
                <a:rPr lang="es-CL" sz="19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s-CL" sz="19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Owner</a:t>
              </a:r>
              <a:endParaRPr lang="es-CL" sz="19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</a:t>
              </a:r>
              <a:r>
                <a:rPr lang="es-CL" sz="1900" b="1" noProof="0" dirty="0">
                  <a:solidFill>
                    <a:srgbClr val="24566D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Patricio Infante</a:t>
              </a:r>
            </a:p>
            <a:p>
              <a:pPr algn="l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Scrum Master</a:t>
              </a:r>
            </a:p>
            <a:p>
              <a:pPr algn="l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 </a:t>
              </a:r>
              <a:r>
                <a:rPr lang="es-CL" sz="1900" b="1" noProof="0" dirty="0">
                  <a:solidFill>
                    <a:srgbClr val="24566D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Diego Arias</a:t>
              </a:r>
            </a:p>
            <a:p>
              <a:pPr algn="l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</a:t>
              </a:r>
              <a:r>
                <a:rPr lang="es-CL" sz="19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Developer</a:t>
              </a:r>
              <a:endParaRPr lang="es-CL" sz="19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060"/>
                </a:lnSpc>
              </a:pPr>
              <a:r>
                <a:rPr lang="es-CL" sz="1800" i="1" noProof="0" dirty="0">
                  <a:solidFill>
                    <a:srgbClr val="2E2E2E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Roles flexibles - todos participan en desarrollo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5810" y="6828557"/>
            <a:ext cx="642890" cy="644441"/>
            <a:chOff x="0" y="0"/>
            <a:chExt cx="812800" cy="81476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4761"/>
            </a:xfrm>
            <a:custGeom>
              <a:avLst/>
              <a:gdLst/>
              <a:ahLst/>
              <a:cxnLst/>
              <a:rect l="l" t="t" r="r" b="b"/>
              <a:pathLst>
                <a:path w="812800" h="814761">
                  <a:moveTo>
                    <a:pt x="406400" y="0"/>
                  </a:moveTo>
                  <a:cubicBezTo>
                    <a:pt x="181951" y="0"/>
                    <a:pt x="0" y="182391"/>
                    <a:pt x="0" y="407381"/>
                  </a:cubicBezTo>
                  <a:cubicBezTo>
                    <a:pt x="0" y="632371"/>
                    <a:pt x="181951" y="814761"/>
                    <a:pt x="406400" y="814761"/>
                  </a:cubicBezTo>
                  <a:cubicBezTo>
                    <a:pt x="630849" y="814761"/>
                    <a:pt x="812800" y="632371"/>
                    <a:pt x="812800" y="407381"/>
                  </a:cubicBezTo>
                  <a:cubicBezTo>
                    <a:pt x="812800" y="1823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-66491"/>
              <a:ext cx="660400" cy="804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PO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5810" y="7633471"/>
            <a:ext cx="642890" cy="697033"/>
            <a:chOff x="0" y="-66492"/>
            <a:chExt cx="812800" cy="88125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4761"/>
            </a:xfrm>
            <a:custGeom>
              <a:avLst/>
              <a:gdLst/>
              <a:ahLst/>
              <a:cxnLst/>
              <a:rect l="l" t="t" r="r" b="b"/>
              <a:pathLst>
                <a:path w="812800" h="814761">
                  <a:moveTo>
                    <a:pt x="406400" y="0"/>
                  </a:moveTo>
                  <a:cubicBezTo>
                    <a:pt x="181951" y="0"/>
                    <a:pt x="0" y="182391"/>
                    <a:pt x="0" y="407381"/>
                  </a:cubicBezTo>
                  <a:cubicBezTo>
                    <a:pt x="0" y="632371"/>
                    <a:pt x="181951" y="814761"/>
                    <a:pt x="406400" y="814761"/>
                  </a:cubicBezTo>
                  <a:cubicBezTo>
                    <a:pt x="630849" y="814761"/>
                    <a:pt x="812800" y="632371"/>
                    <a:pt x="812800" y="407381"/>
                  </a:cubicBezTo>
                  <a:cubicBezTo>
                    <a:pt x="812800" y="18239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66492"/>
              <a:ext cx="812800" cy="804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SM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5810" y="8540054"/>
            <a:ext cx="642890" cy="642890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s-CL" sz="16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Dev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21388" y="2524694"/>
            <a:ext cx="6297070" cy="3228406"/>
            <a:chOff x="0" y="-2419"/>
            <a:chExt cx="1658488" cy="8539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658488" cy="851561"/>
            </a:xfrm>
            <a:custGeom>
              <a:avLst/>
              <a:gdLst/>
              <a:ahLst/>
              <a:cxnLst/>
              <a:rect l="l" t="t" r="r" b="b"/>
              <a:pathLst>
                <a:path w="1658488" h="851561">
                  <a:moveTo>
                    <a:pt x="20901" y="0"/>
                  </a:moveTo>
                  <a:lnTo>
                    <a:pt x="1637587" y="0"/>
                  </a:lnTo>
                  <a:cubicBezTo>
                    <a:pt x="1649130" y="0"/>
                    <a:pt x="1658488" y="9358"/>
                    <a:pt x="1658488" y="20901"/>
                  </a:cubicBezTo>
                  <a:lnTo>
                    <a:pt x="1658488" y="830660"/>
                  </a:lnTo>
                  <a:cubicBezTo>
                    <a:pt x="1658488" y="836204"/>
                    <a:pt x="1656286" y="841520"/>
                    <a:pt x="1652366" y="845439"/>
                  </a:cubicBezTo>
                  <a:cubicBezTo>
                    <a:pt x="1648446" y="849359"/>
                    <a:pt x="1643130" y="851561"/>
                    <a:pt x="1637587" y="851561"/>
                  </a:cubicBezTo>
                  <a:lnTo>
                    <a:pt x="20901" y="851561"/>
                  </a:lnTo>
                  <a:cubicBezTo>
                    <a:pt x="9358" y="851561"/>
                    <a:pt x="0" y="842204"/>
                    <a:pt x="0" y="830660"/>
                  </a:cubicBezTo>
                  <a:lnTo>
                    <a:pt x="0" y="20901"/>
                  </a:lnTo>
                  <a:cubicBezTo>
                    <a:pt x="0" y="15357"/>
                    <a:pt x="2202" y="10041"/>
                    <a:pt x="6122" y="6122"/>
                  </a:cubicBezTo>
                  <a:cubicBezTo>
                    <a:pt x="10041" y="2202"/>
                    <a:pt x="15357" y="0"/>
                    <a:pt x="20901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419"/>
              <a:ext cx="1658488" cy="853980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ctr">
                <a:lnSpc>
                  <a:spcPts val="3570"/>
                </a:lnSpc>
              </a:pPr>
              <a:r>
                <a:rPr lang="es-CL" sz="2100" b="1" noProof="0" dirty="0">
                  <a:solidFill>
                    <a:srgbClr val="FFFFFF"/>
                  </a:solidFill>
                  <a:latin typeface="Heading Now 71-78 Bold"/>
                  <a:ea typeface="Heading Now 71-78 Bold"/>
                  <a:cs typeface="Heading Now 71-78 Bold"/>
                  <a:sym typeface="Heading Now 71-78 Bold"/>
                </a:rPr>
                <a:t>CICLO DEL SPRINT</a:t>
              </a:r>
            </a:p>
            <a:p>
              <a:pPr algn="ctr">
                <a:lnSpc>
                  <a:spcPts val="3570"/>
                </a:lnSpc>
              </a:pPr>
              <a:endParaRPr lang="es-CL" sz="2100" b="1" noProof="0" dirty="0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endParaRPr>
            </a:p>
            <a:p>
              <a:pPr algn="ctr">
                <a:lnSpc>
                  <a:spcPts val="3570"/>
                </a:lnSpc>
              </a:pPr>
              <a:endParaRPr lang="es-CL" sz="2100" b="1" noProof="0" dirty="0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endParaRPr>
            </a:p>
            <a:p>
              <a:pPr algn="ctr">
                <a:lnSpc>
                  <a:spcPts val="3570"/>
                </a:lnSpc>
              </a:pPr>
              <a:endParaRPr lang="es-CL" sz="2100" b="1" noProof="0" dirty="0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endParaRPr>
            </a:p>
            <a:p>
              <a:pPr algn="ctr">
                <a:lnSpc>
                  <a:spcPts val="2720"/>
                </a:lnSpc>
              </a:pPr>
              <a:endParaRPr lang="es-CL" sz="2100" b="1" noProof="0" dirty="0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endParaRPr>
            </a:p>
            <a:p>
              <a:pPr algn="ctr">
                <a:lnSpc>
                  <a:spcPts val="2720"/>
                </a:lnSpc>
              </a:pPr>
              <a:endParaRPr lang="es-CL" sz="2100" b="1" noProof="0" dirty="0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endParaRPr>
            </a:p>
            <a:p>
              <a:pPr algn="ctr">
                <a:lnSpc>
                  <a:spcPts val="2720"/>
                </a:lnSpc>
              </a:pPr>
              <a:r>
                <a:rPr lang="es-CL" sz="1600" noProof="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Iteraciones de 2 semanas con incrementos funcionales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14350" y="3412855"/>
            <a:ext cx="1381660" cy="631274"/>
            <a:chOff x="0" y="-13274"/>
            <a:chExt cx="363894" cy="16626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63894" cy="152987"/>
            </a:xfrm>
            <a:custGeom>
              <a:avLst/>
              <a:gdLst/>
              <a:ahLst/>
              <a:cxnLst/>
              <a:rect l="l" t="t" r="r" b="b"/>
              <a:pathLst>
                <a:path w="363894" h="152987">
                  <a:moveTo>
                    <a:pt x="76494" y="0"/>
                  </a:moveTo>
                  <a:lnTo>
                    <a:pt x="287400" y="0"/>
                  </a:lnTo>
                  <a:cubicBezTo>
                    <a:pt x="307688" y="0"/>
                    <a:pt x="327144" y="8059"/>
                    <a:pt x="341490" y="22404"/>
                  </a:cubicBezTo>
                  <a:cubicBezTo>
                    <a:pt x="355835" y="36750"/>
                    <a:pt x="363894" y="56206"/>
                    <a:pt x="363894" y="76494"/>
                  </a:cubicBezTo>
                  <a:lnTo>
                    <a:pt x="363894" y="76494"/>
                  </a:lnTo>
                  <a:cubicBezTo>
                    <a:pt x="363894" y="118740"/>
                    <a:pt x="329647" y="152987"/>
                    <a:pt x="287400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66B78"/>
            </a:solidFill>
            <a:ln w="38100" cap="sq">
              <a:solidFill>
                <a:srgbClr val="3E969B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3274"/>
              <a:ext cx="363894" cy="166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0"/>
                </a:lnSpc>
              </a:pPr>
              <a:r>
                <a:rPr lang="es-CL" sz="19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Planificar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16623" y="3412855"/>
            <a:ext cx="1706600" cy="631274"/>
            <a:chOff x="0" y="-13274"/>
            <a:chExt cx="449475" cy="16626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49475" cy="152987"/>
            </a:xfrm>
            <a:custGeom>
              <a:avLst/>
              <a:gdLst/>
              <a:ahLst/>
              <a:cxnLst/>
              <a:rect l="l" t="t" r="r" b="b"/>
              <a:pathLst>
                <a:path w="449475" h="152987">
                  <a:moveTo>
                    <a:pt x="76494" y="0"/>
                  </a:moveTo>
                  <a:lnTo>
                    <a:pt x="372981" y="0"/>
                  </a:lnTo>
                  <a:cubicBezTo>
                    <a:pt x="415228" y="0"/>
                    <a:pt x="449475" y="34247"/>
                    <a:pt x="449475" y="76494"/>
                  </a:cubicBezTo>
                  <a:lnTo>
                    <a:pt x="449475" y="76494"/>
                  </a:lnTo>
                  <a:cubicBezTo>
                    <a:pt x="449475" y="96781"/>
                    <a:pt x="441416" y="116237"/>
                    <a:pt x="427070" y="130583"/>
                  </a:cubicBezTo>
                  <a:cubicBezTo>
                    <a:pt x="412725" y="144928"/>
                    <a:pt x="393269" y="152987"/>
                    <a:pt x="372981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66B78"/>
            </a:solidFill>
            <a:ln w="38100" cap="sq">
              <a:solidFill>
                <a:srgbClr val="3E969B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3274"/>
              <a:ext cx="449475" cy="166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0"/>
                </a:lnSpc>
              </a:pPr>
              <a:r>
                <a:rPr lang="es-CL" sz="19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Desarrollar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706111" y="3451724"/>
            <a:ext cx="1523822" cy="592405"/>
            <a:chOff x="0" y="-3037"/>
            <a:chExt cx="401336" cy="15602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01336" cy="152987"/>
            </a:xfrm>
            <a:custGeom>
              <a:avLst/>
              <a:gdLst/>
              <a:ahLst/>
              <a:cxnLst/>
              <a:rect l="l" t="t" r="r" b="b"/>
              <a:pathLst>
                <a:path w="401336" h="152987">
                  <a:moveTo>
                    <a:pt x="76494" y="0"/>
                  </a:moveTo>
                  <a:lnTo>
                    <a:pt x="324842" y="0"/>
                  </a:lnTo>
                  <a:cubicBezTo>
                    <a:pt x="367088" y="0"/>
                    <a:pt x="401336" y="34247"/>
                    <a:pt x="401336" y="76494"/>
                  </a:cubicBezTo>
                  <a:lnTo>
                    <a:pt x="401336" y="76494"/>
                  </a:lnTo>
                  <a:cubicBezTo>
                    <a:pt x="401336" y="96781"/>
                    <a:pt x="393277" y="116237"/>
                    <a:pt x="378931" y="130583"/>
                  </a:cubicBezTo>
                  <a:cubicBezTo>
                    <a:pt x="364586" y="144928"/>
                    <a:pt x="345129" y="152987"/>
                    <a:pt x="324842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66B78"/>
            </a:solidFill>
            <a:ln w="38100" cap="sq">
              <a:solidFill>
                <a:srgbClr val="3E969B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037"/>
              <a:ext cx="401336" cy="15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0"/>
                </a:lnSpc>
              </a:pPr>
              <a:r>
                <a:rPr lang="es-CL" sz="19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Revisar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516623" y="4431065"/>
            <a:ext cx="1706600" cy="631274"/>
            <a:chOff x="0" y="-13274"/>
            <a:chExt cx="449475" cy="16626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49475" cy="152987"/>
            </a:xfrm>
            <a:custGeom>
              <a:avLst/>
              <a:gdLst/>
              <a:ahLst/>
              <a:cxnLst/>
              <a:rect l="l" t="t" r="r" b="b"/>
              <a:pathLst>
                <a:path w="449475" h="152987">
                  <a:moveTo>
                    <a:pt x="76494" y="0"/>
                  </a:moveTo>
                  <a:lnTo>
                    <a:pt x="372981" y="0"/>
                  </a:lnTo>
                  <a:cubicBezTo>
                    <a:pt x="415228" y="0"/>
                    <a:pt x="449475" y="34247"/>
                    <a:pt x="449475" y="76494"/>
                  </a:cubicBezTo>
                  <a:lnTo>
                    <a:pt x="449475" y="76494"/>
                  </a:lnTo>
                  <a:cubicBezTo>
                    <a:pt x="449475" y="96781"/>
                    <a:pt x="441416" y="116237"/>
                    <a:pt x="427070" y="130583"/>
                  </a:cubicBezTo>
                  <a:cubicBezTo>
                    <a:pt x="412725" y="144928"/>
                    <a:pt x="393269" y="152987"/>
                    <a:pt x="372981" y="152987"/>
                  </a:cubicBezTo>
                  <a:lnTo>
                    <a:pt x="76494" y="152987"/>
                  </a:lnTo>
                  <a:cubicBezTo>
                    <a:pt x="56206" y="152987"/>
                    <a:pt x="36750" y="144928"/>
                    <a:pt x="22404" y="130583"/>
                  </a:cubicBezTo>
                  <a:cubicBezTo>
                    <a:pt x="8059" y="116237"/>
                    <a:pt x="0" y="96781"/>
                    <a:pt x="0" y="76494"/>
                  </a:cubicBezTo>
                  <a:lnTo>
                    <a:pt x="0" y="76494"/>
                  </a:lnTo>
                  <a:cubicBezTo>
                    <a:pt x="0" y="56206"/>
                    <a:pt x="8059" y="36750"/>
                    <a:pt x="22404" y="22404"/>
                  </a:cubicBezTo>
                  <a:cubicBezTo>
                    <a:pt x="36750" y="8059"/>
                    <a:pt x="56206" y="0"/>
                    <a:pt x="76494" y="0"/>
                  </a:cubicBezTo>
                  <a:close/>
                </a:path>
              </a:pathLst>
            </a:custGeom>
            <a:solidFill>
              <a:srgbClr val="266B78"/>
            </a:solidFill>
            <a:ln w="38100" cap="sq">
              <a:solidFill>
                <a:srgbClr val="3E969B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3274"/>
              <a:ext cx="449475" cy="166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30"/>
                </a:lnSpc>
              </a:pPr>
              <a:r>
                <a:rPr lang="es-CL" sz="19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Retro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023951" y="3571326"/>
            <a:ext cx="364732" cy="364732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E969B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60325"/>
              <a:ext cx="711200" cy="54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282301" y="3571326"/>
            <a:ext cx="364732" cy="364732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E969B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60325"/>
              <a:ext cx="711200" cy="54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023951" y="4589536"/>
            <a:ext cx="364732" cy="364732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E969B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60325"/>
              <a:ext cx="711200" cy="54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163" y="-105182"/>
            <a:ext cx="9799267" cy="1934593"/>
            <a:chOff x="0" y="0"/>
            <a:chExt cx="2580877" cy="50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0877" cy="509523"/>
            </a:xfrm>
            <a:custGeom>
              <a:avLst/>
              <a:gdLst/>
              <a:ahLst/>
              <a:cxnLst/>
              <a:rect l="l" t="t" r="r" b="b"/>
              <a:pathLst>
                <a:path w="2580877" h="509523">
                  <a:moveTo>
                    <a:pt x="33182" y="0"/>
                  </a:moveTo>
                  <a:lnTo>
                    <a:pt x="2547695" y="0"/>
                  </a:lnTo>
                  <a:cubicBezTo>
                    <a:pt x="2556495" y="0"/>
                    <a:pt x="2564935" y="3496"/>
                    <a:pt x="2571158" y="9719"/>
                  </a:cubicBezTo>
                  <a:cubicBezTo>
                    <a:pt x="2577381" y="15942"/>
                    <a:pt x="2580877" y="24382"/>
                    <a:pt x="2580877" y="33182"/>
                  </a:cubicBezTo>
                  <a:lnTo>
                    <a:pt x="2580877" y="476340"/>
                  </a:lnTo>
                  <a:cubicBezTo>
                    <a:pt x="2580877" y="494666"/>
                    <a:pt x="2566021" y="509523"/>
                    <a:pt x="2547695" y="509523"/>
                  </a:cubicBezTo>
                  <a:lnTo>
                    <a:pt x="33182" y="509523"/>
                  </a:lnTo>
                  <a:cubicBezTo>
                    <a:pt x="14856" y="509523"/>
                    <a:pt x="0" y="494666"/>
                    <a:pt x="0" y="476340"/>
                  </a:cubicBezTo>
                  <a:lnTo>
                    <a:pt x="0" y="33182"/>
                  </a:lnTo>
                  <a:cubicBezTo>
                    <a:pt x="0" y="14856"/>
                    <a:pt x="14856" y="0"/>
                    <a:pt x="331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64A66">
                    <a:alpha val="100000"/>
                  </a:srgbClr>
                </a:gs>
                <a:gs pos="100000">
                  <a:srgbClr val="1C6D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2580877" cy="64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6" name="Group 6"/>
          <p:cNvGrpSpPr/>
          <p:nvPr/>
        </p:nvGrpSpPr>
        <p:grpSpPr>
          <a:xfrm>
            <a:off x="580810" y="3361857"/>
            <a:ext cx="5572973" cy="3150337"/>
            <a:chOff x="0" y="0"/>
            <a:chExt cx="1467779" cy="8297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7779" cy="829718"/>
            </a:xfrm>
            <a:custGeom>
              <a:avLst/>
              <a:gdLst/>
              <a:ahLst/>
              <a:cxnLst/>
              <a:rect l="l" t="t" r="r" b="b"/>
              <a:pathLst>
                <a:path w="1467779" h="82971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817216"/>
                  </a:lnTo>
                  <a:cubicBezTo>
                    <a:pt x="1467779" y="820532"/>
                    <a:pt x="1466462" y="823712"/>
                    <a:pt x="1464117" y="826056"/>
                  </a:cubicBezTo>
                  <a:cubicBezTo>
                    <a:pt x="1461772" y="828401"/>
                    <a:pt x="1458592" y="829718"/>
                    <a:pt x="1455276" y="829718"/>
                  </a:cubicBezTo>
                  <a:lnTo>
                    <a:pt x="12503" y="829718"/>
                  </a:lnTo>
                  <a:cubicBezTo>
                    <a:pt x="9187" y="829718"/>
                    <a:pt x="6007" y="828401"/>
                    <a:pt x="3662" y="826056"/>
                  </a:cubicBezTo>
                  <a:cubicBezTo>
                    <a:pt x="1317" y="823712"/>
                    <a:pt x="0" y="820532"/>
                    <a:pt x="0" y="817216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E9E9E9"/>
            </a:solidFill>
            <a:ln w="38100" cap="sq">
              <a:solidFill>
                <a:srgbClr val="BBBBBB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467779" cy="829718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Análisis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Ley 19.418, roles de usuario, épicas, mockups iniciales.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77586" y="3361857"/>
            <a:ext cx="5572973" cy="3150337"/>
            <a:chOff x="0" y="0"/>
            <a:chExt cx="1467779" cy="8297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7779" cy="829718"/>
            </a:xfrm>
            <a:custGeom>
              <a:avLst/>
              <a:gdLst/>
              <a:ahLst/>
              <a:cxnLst/>
              <a:rect l="l" t="t" r="r" b="b"/>
              <a:pathLst>
                <a:path w="1467779" h="82971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817216"/>
                  </a:lnTo>
                  <a:cubicBezTo>
                    <a:pt x="1467779" y="820532"/>
                    <a:pt x="1466462" y="823712"/>
                    <a:pt x="1464117" y="826056"/>
                  </a:cubicBezTo>
                  <a:cubicBezTo>
                    <a:pt x="1461772" y="828401"/>
                    <a:pt x="1458592" y="829718"/>
                    <a:pt x="1455276" y="829718"/>
                  </a:cubicBezTo>
                  <a:lnTo>
                    <a:pt x="12503" y="829718"/>
                  </a:lnTo>
                  <a:cubicBezTo>
                    <a:pt x="9187" y="829718"/>
                    <a:pt x="6007" y="828401"/>
                    <a:pt x="3662" y="826056"/>
                  </a:cubicBezTo>
                  <a:cubicBezTo>
                    <a:pt x="1317" y="823712"/>
                    <a:pt x="0" y="820532"/>
                    <a:pt x="0" y="817216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E9E9E9"/>
            </a:solidFill>
            <a:ln w="38100" cap="sq">
              <a:solidFill>
                <a:srgbClr val="24566D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467779" cy="829718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Sprint 1 - Base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Setup</a:t>
              </a:r>
              <a:r>
                <a:rPr lang="es-CL" sz="2100" noProof="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Next.js + </a:t>
              </a:r>
              <a:r>
                <a:rPr lang="es-CL" sz="2100" noProof="0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Supabase</a:t>
              </a:r>
              <a:r>
                <a:rPr lang="es-CL" sz="2100" noProof="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registro, </a:t>
              </a:r>
              <a:r>
                <a:rPr lang="es-CL" sz="2100" noProof="0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login</a:t>
              </a:r>
              <a:r>
                <a:rPr lang="es-CL" sz="2100" noProof="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, navegación.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4361" y="3361857"/>
            <a:ext cx="5572973" cy="3150337"/>
            <a:chOff x="0" y="0"/>
            <a:chExt cx="1467779" cy="8297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7779" cy="829718"/>
            </a:xfrm>
            <a:custGeom>
              <a:avLst/>
              <a:gdLst/>
              <a:ahLst/>
              <a:cxnLst/>
              <a:rect l="l" t="t" r="r" b="b"/>
              <a:pathLst>
                <a:path w="1467779" h="82971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817216"/>
                  </a:lnTo>
                  <a:cubicBezTo>
                    <a:pt x="1467779" y="820532"/>
                    <a:pt x="1466462" y="823712"/>
                    <a:pt x="1464117" y="826056"/>
                  </a:cubicBezTo>
                  <a:cubicBezTo>
                    <a:pt x="1461772" y="828401"/>
                    <a:pt x="1458592" y="829718"/>
                    <a:pt x="1455276" y="829718"/>
                  </a:cubicBezTo>
                  <a:lnTo>
                    <a:pt x="12503" y="829718"/>
                  </a:lnTo>
                  <a:cubicBezTo>
                    <a:pt x="9187" y="829718"/>
                    <a:pt x="6007" y="828401"/>
                    <a:pt x="3662" y="826056"/>
                  </a:cubicBezTo>
                  <a:cubicBezTo>
                    <a:pt x="1317" y="823712"/>
                    <a:pt x="0" y="820532"/>
                    <a:pt x="0" y="817216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E9E9E9"/>
            </a:solidFill>
            <a:ln w="38100" cap="sq">
              <a:solidFill>
                <a:srgbClr val="24566D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467779" cy="829718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Sprint 2 - Certificados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Solicitud online, aprobación, generación de PDF.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0810" y="6671026"/>
            <a:ext cx="5572973" cy="3150337"/>
            <a:chOff x="0" y="0"/>
            <a:chExt cx="1467779" cy="8297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7779" cy="829718"/>
            </a:xfrm>
            <a:custGeom>
              <a:avLst/>
              <a:gdLst/>
              <a:ahLst/>
              <a:cxnLst/>
              <a:rect l="l" t="t" r="r" b="b"/>
              <a:pathLst>
                <a:path w="1467779" h="82971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817216"/>
                  </a:lnTo>
                  <a:cubicBezTo>
                    <a:pt x="1467779" y="820532"/>
                    <a:pt x="1466462" y="823712"/>
                    <a:pt x="1464117" y="826056"/>
                  </a:cubicBezTo>
                  <a:cubicBezTo>
                    <a:pt x="1461772" y="828401"/>
                    <a:pt x="1458592" y="829718"/>
                    <a:pt x="1455276" y="829718"/>
                  </a:cubicBezTo>
                  <a:lnTo>
                    <a:pt x="12503" y="829718"/>
                  </a:lnTo>
                  <a:cubicBezTo>
                    <a:pt x="9187" y="829718"/>
                    <a:pt x="6007" y="828401"/>
                    <a:pt x="3662" y="826056"/>
                  </a:cubicBezTo>
                  <a:cubicBezTo>
                    <a:pt x="1317" y="823712"/>
                    <a:pt x="0" y="820532"/>
                    <a:pt x="0" y="817216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E9E9E9"/>
            </a:solidFill>
            <a:ln w="38100" cap="sq">
              <a:solidFill>
                <a:srgbClr val="24566D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467779" cy="829718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Sprint 3 - Noticias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Noticias, avisos, editor, notificaciones por correo.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77586" y="6671026"/>
            <a:ext cx="5572973" cy="3150337"/>
            <a:chOff x="0" y="0"/>
            <a:chExt cx="1467779" cy="8297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7779" cy="829718"/>
            </a:xfrm>
            <a:custGeom>
              <a:avLst/>
              <a:gdLst/>
              <a:ahLst/>
              <a:cxnLst/>
              <a:rect l="l" t="t" r="r" b="b"/>
              <a:pathLst>
                <a:path w="1467779" h="82971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817216"/>
                  </a:lnTo>
                  <a:cubicBezTo>
                    <a:pt x="1467779" y="820532"/>
                    <a:pt x="1466462" y="823712"/>
                    <a:pt x="1464117" y="826056"/>
                  </a:cubicBezTo>
                  <a:cubicBezTo>
                    <a:pt x="1461772" y="828401"/>
                    <a:pt x="1458592" y="829718"/>
                    <a:pt x="1455276" y="829718"/>
                  </a:cubicBezTo>
                  <a:lnTo>
                    <a:pt x="12503" y="829718"/>
                  </a:lnTo>
                  <a:cubicBezTo>
                    <a:pt x="9187" y="829718"/>
                    <a:pt x="6007" y="828401"/>
                    <a:pt x="3662" y="826056"/>
                  </a:cubicBezTo>
                  <a:cubicBezTo>
                    <a:pt x="1317" y="823712"/>
                    <a:pt x="0" y="820532"/>
                    <a:pt x="0" y="817216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E9E9E9"/>
            </a:solidFill>
            <a:ln w="38100" cap="sq">
              <a:solidFill>
                <a:srgbClr val="24566D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5202"/>
              <a:ext cx="1467779" cy="824515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Sprint 4 - Proyectos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Gestión proyectos, actividades, calendario.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74361" y="6671026"/>
            <a:ext cx="5572973" cy="3150337"/>
            <a:chOff x="0" y="0"/>
            <a:chExt cx="1467779" cy="8297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7779" cy="829718"/>
            </a:xfrm>
            <a:custGeom>
              <a:avLst/>
              <a:gdLst/>
              <a:ahLst/>
              <a:cxnLst/>
              <a:rect l="l" t="t" r="r" b="b"/>
              <a:pathLst>
                <a:path w="1467779" h="82971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817216"/>
                  </a:lnTo>
                  <a:cubicBezTo>
                    <a:pt x="1467779" y="820532"/>
                    <a:pt x="1466462" y="823712"/>
                    <a:pt x="1464117" y="826056"/>
                  </a:cubicBezTo>
                  <a:cubicBezTo>
                    <a:pt x="1461772" y="828401"/>
                    <a:pt x="1458592" y="829718"/>
                    <a:pt x="1455276" y="829718"/>
                  </a:cubicBezTo>
                  <a:lnTo>
                    <a:pt x="12503" y="829718"/>
                  </a:lnTo>
                  <a:cubicBezTo>
                    <a:pt x="9187" y="829718"/>
                    <a:pt x="6007" y="828401"/>
                    <a:pt x="3662" y="826056"/>
                  </a:cubicBezTo>
                  <a:cubicBezTo>
                    <a:pt x="1317" y="823712"/>
                    <a:pt x="0" y="820532"/>
                    <a:pt x="0" y="817216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24566D"/>
            </a:solidFill>
            <a:ln w="38100" cap="sq">
              <a:solidFill>
                <a:srgbClr val="24566D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467779" cy="829718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Integración Final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Reservas, mapa, pruebas, documentación, defensa.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24" name="AutoShape 24"/>
          <p:cNvSpPr/>
          <p:nvPr/>
        </p:nvSpPr>
        <p:spPr>
          <a:xfrm>
            <a:off x="580810" y="2595634"/>
            <a:ext cx="17166525" cy="0"/>
          </a:xfrm>
          <a:prstGeom prst="line">
            <a:avLst/>
          </a:prstGeom>
          <a:ln w="381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Freeform 25"/>
          <p:cNvSpPr/>
          <p:nvPr/>
        </p:nvSpPr>
        <p:spPr>
          <a:xfrm>
            <a:off x="580810" y="2775144"/>
            <a:ext cx="17166525" cy="300552"/>
          </a:xfrm>
          <a:custGeom>
            <a:avLst/>
            <a:gdLst/>
            <a:ahLst/>
            <a:cxnLst/>
            <a:rect l="l" t="t" r="r" b="b"/>
            <a:pathLst>
              <a:path w="17166525" h="300552">
                <a:moveTo>
                  <a:pt x="0" y="0"/>
                </a:moveTo>
                <a:lnTo>
                  <a:pt x="17166525" y="0"/>
                </a:lnTo>
                <a:lnTo>
                  <a:pt x="17166525" y="300552"/>
                </a:lnTo>
                <a:lnTo>
                  <a:pt x="0" y="30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1372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Box 26"/>
          <p:cNvSpPr txBox="1"/>
          <p:nvPr/>
        </p:nvSpPr>
        <p:spPr>
          <a:xfrm>
            <a:off x="514350" y="283208"/>
            <a:ext cx="8545713" cy="112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0"/>
              </a:lnSpc>
              <a:spcBef>
                <a:spcPct val="0"/>
              </a:spcBef>
            </a:pPr>
            <a:r>
              <a:rPr lang="es-CL" sz="7100" spc="-142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Cronograma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0810" y="1950586"/>
            <a:ext cx="6124790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 semanas de desarrollo con metodología ágil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027709" y="5819508"/>
            <a:ext cx="1015955" cy="573389"/>
            <a:chOff x="0" y="0"/>
            <a:chExt cx="812800" cy="4587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58732"/>
            </a:xfrm>
            <a:custGeom>
              <a:avLst/>
              <a:gdLst/>
              <a:ahLst/>
              <a:cxnLst/>
              <a:rect l="l" t="t" r="r" b="b"/>
              <a:pathLst>
                <a:path w="812800" h="458732">
                  <a:moveTo>
                    <a:pt x="609600" y="0"/>
                  </a:moveTo>
                  <a:cubicBezTo>
                    <a:pt x="721824" y="0"/>
                    <a:pt x="812800" y="102691"/>
                    <a:pt x="812800" y="229366"/>
                  </a:cubicBezTo>
                  <a:cubicBezTo>
                    <a:pt x="812800" y="356041"/>
                    <a:pt x="721824" y="458732"/>
                    <a:pt x="609600" y="458732"/>
                  </a:cubicBezTo>
                  <a:lnTo>
                    <a:pt x="203200" y="458732"/>
                  </a:lnTo>
                  <a:cubicBezTo>
                    <a:pt x="90976" y="458732"/>
                    <a:pt x="0" y="356041"/>
                    <a:pt x="0" y="229366"/>
                  </a:cubicBezTo>
                  <a:cubicBezTo>
                    <a:pt x="0" y="102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812800" cy="458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1-2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817996" y="5819504"/>
            <a:ext cx="1015955" cy="573393"/>
            <a:chOff x="0" y="-3"/>
            <a:chExt cx="812800" cy="45873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58732"/>
            </a:xfrm>
            <a:custGeom>
              <a:avLst/>
              <a:gdLst/>
              <a:ahLst/>
              <a:cxnLst/>
              <a:rect l="l" t="t" r="r" b="b"/>
              <a:pathLst>
                <a:path w="812800" h="458732">
                  <a:moveTo>
                    <a:pt x="609600" y="0"/>
                  </a:moveTo>
                  <a:cubicBezTo>
                    <a:pt x="721824" y="0"/>
                    <a:pt x="812800" y="102691"/>
                    <a:pt x="812800" y="229366"/>
                  </a:cubicBezTo>
                  <a:cubicBezTo>
                    <a:pt x="812800" y="356041"/>
                    <a:pt x="721824" y="458732"/>
                    <a:pt x="609600" y="458732"/>
                  </a:cubicBezTo>
                  <a:lnTo>
                    <a:pt x="203200" y="458732"/>
                  </a:lnTo>
                  <a:cubicBezTo>
                    <a:pt x="90976" y="458732"/>
                    <a:pt x="0" y="356041"/>
                    <a:pt x="0" y="229366"/>
                  </a:cubicBezTo>
                  <a:cubicBezTo>
                    <a:pt x="0" y="102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"/>
              <a:ext cx="812800" cy="458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3-4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608284" y="5819504"/>
            <a:ext cx="1015955" cy="573393"/>
            <a:chOff x="0" y="-3"/>
            <a:chExt cx="812800" cy="45873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58732"/>
            </a:xfrm>
            <a:custGeom>
              <a:avLst/>
              <a:gdLst/>
              <a:ahLst/>
              <a:cxnLst/>
              <a:rect l="l" t="t" r="r" b="b"/>
              <a:pathLst>
                <a:path w="812800" h="458732">
                  <a:moveTo>
                    <a:pt x="609600" y="0"/>
                  </a:moveTo>
                  <a:cubicBezTo>
                    <a:pt x="721824" y="0"/>
                    <a:pt x="812800" y="102691"/>
                    <a:pt x="812800" y="229366"/>
                  </a:cubicBezTo>
                  <a:cubicBezTo>
                    <a:pt x="812800" y="356041"/>
                    <a:pt x="721824" y="458732"/>
                    <a:pt x="609600" y="458732"/>
                  </a:cubicBezTo>
                  <a:lnTo>
                    <a:pt x="203200" y="458732"/>
                  </a:lnTo>
                  <a:cubicBezTo>
                    <a:pt x="90976" y="458732"/>
                    <a:pt x="0" y="356041"/>
                    <a:pt x="0" y="229366"/>
                  </a:cubicBezTo>
                  <a:cubicBezTo>
                    <a:pt x="0" y="102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"/>
              <a:ext cx="812800" cy="458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5-6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027709" y="9147030"/>
            <a:ext cx="1015955" cy="573389"/>
            <a:chOff x="0" y="0"/>
            <a:chExt cx="812800" cy="45873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458732"/>
            </a:xfrm>
            <a:custGeom>
              <a:avLst/>
              <a:gdLst/>
              <a:ahLst/>
              <a:cxnLst/>
              <a:rect l="l" t="t" r="r" b="b"/>
              <a:pathLst>
                <a:path w="812800" h="458732">
                  <a:moveTo>
                    <a:pt x="609600" y="0"/>
                  </a:moveTo>
                  <a:cubicBezTo>
                    <a:pt x="721824" y="0"/>
                    <a:pt x="812800" y="102691"/>
                    <a:pt x="812800" y="229366"/>
                  </a:cubicBezTo>
                  <a:cubicBezTo>
                    <a:pt x="812800" y="356041"/>
                    <a:pt x="721824" y="458732"/>
                    <a:pt x="609600" y="458732"/>
                  </a:cubicBezTo>
                  <a:lnTo>
                    <a:pt x="203200" y="458732"/>
                  </a:lnTo>
                  <a:cubicBezTo>
                    <a:pt x="90976" y="458732"/>
                    <a:pt x="0" y="356041"/>
                    <a:pt x="0" y="229366"/>
                  </a:cubicBezTo>
                  <a:cubicBezTo>
                    <a:pt x="0" y="102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812800" cy="458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7-8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817996" y="9147030"/>
            <a:ext cx="1015955" cy="573389"/>
            <a:chOff x="0" y="0"/>
            <a:chExt cx="812800" cy="45873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458732"/>
            </a:xfrm>
            <a:custGeom>
              <a:avLst/>
              <a:gdLst/>
              <a:ahLst/>
              <a:cxnLst/>
              <a:rect l="l" t="t" r="r" b="b"/>
              <a:pathLst>
                <a:path w="812800" h="458732">
                  <a:moveTo>
                    <a:pt x="609600" y="0"/>
                  </a:moveTo>
                  <a:cubicBezTo>
                    <a:pt x="721824" y="0"/>
                    <a:pt x="812800" y="102691"/>
                    <a:pt x="812800" y="229366"/>
                  </a:cubicBezTo>
                  <a:cubicBezTo>
                    <a:pt x="812800" y="356041"/>
                    <a:pt x="721824" y="458732"/>
                    <a:pt x="609600" y="458732"/>
                  </a:cubicBezTo>
                  <a:lnTo>
                    <a:pt x="203200" y="458732"/>
                  </a:lnTo>
                  <a:cubicBezTo>
                    <a:pt x="90976" y="458732"/>
                    <a:pt x="0" y="356041"/>
                    <a:pt x="0" y="229366"/>
                  </a:cubicBezTo>
                  <a:cubicBezTo>
                    <a:pt x="0" y="102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812800" cy="458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9-10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608284" y="9147030"/>
            <a:ext cx="1015955" cy="573389"/>
            <a:chOff x="0" y="0"/>
            <a:chExt cx="812800" cy="45873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458732"/>
            </a:xfrm>
            <a:custGeom>
              <a:avLst/>
              <a:gdLst/>
              <a:ahLst/>
              <a:cxnLst/>
              <a:rect l="l" t="t" r="r" b="b"/>
              <a:pathLst>
                <a:path w="812800" h="458732">
                  <a:moveTo>
                    <a:pt x="609600" y="0"/>
                  </a:moveTo>
                  <a:cubicBezTo>
                    <a:pt x="721824" y="0"/>
                    <a:pt x="812800" y="102691"/>
                    <a:pt x="812800" y="229366"/>
                  </a:cubicBezTo>
                  <a:cubicBezTo>
                    <a:pt x="812800" y="356041"/>
                    <a:pt x="721824" y="458732"/>
                    <a:pt x="609600" y="458732"/>
                  </a:cubicBezTo>
                  <a:lnTo>
                    <a:pt x="203200" y="458732"/>
                  </a:lnTo>
                  <a:cubicBezTo>
                    <a:pt x="90976" y="458732"/>
                    <a:pt x="0" y="356041"/>
                    <a:pt x="0" y="229366"/>
                  </a:cubicBezTo>
                  <a:cubicBezTo>
                    <a:pt x="0" y="10269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812800" cy="458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11~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A66">
                <a:alpha val="100000"/>
              </a:srgbClr>
            </a:gs>
            <a:gs pos="100000">
              <a:srgbClr val="1C6D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2099" y="4755301"/>
            <a:ext cx="5156138" cy="5357832"/>
            <a:chOff x="0" y="0"/>
            <a:chExt cx="1357995" cy="14111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7995" cy="1411116"/>
            </a:xfrm>
            <a:custGeom>
              <a:avLst/>
              <a:gdLst/>
              <a:ahLst/>
              <a:cxnLst/>
              <a:rect l="l" t="t" r="r" b="b"/>
              <a:pathLst>
                <a:path w="1357995" h="1411116">
                  <a:moveTo>
                    <a:pt x="75075" y="0"/>
                  </a:moveTo>
                  <a:lnTo>
                    <a:pt x="1282921" y="0"/>
                  </a:lnTo>
                  <a:cubicBezTo>
                    <a:pt x="1324383" y="0"/>
                    <a:pt x="1357995" y="33612"/>
                    <a:pt x="1357995" y="75075"/>
                  </a:cubicBezTo>
                  <a:lnTo>
                    <a:pt x="1357995" y="1336041"/>
                  </a:lnTo>
                  <a:cubicBezTo>
                    <a:pt x="1357995" y="1355953"/>
                    <a:pt x="1350086" y="1375048"/>
                    <a:pt x="1336006" y="1389127"/>
                  </a:cubicBezTo>
                  <a:cubicBezTo>
                    <a:pt x="1321927" y="1403207"/>
                    <a:pt x="1302832" y="1411116"/>
                    <a:pt x="1282921" y="1411116"/>
                  </a:cubicBezTo>
                  <a:lnTo>
                    <a:pt x="75075" y="1411116"/>
                  </a:lnTo>
                  <a:cubicBezTo>
                    <a:pt x="55164" y="1411116"/>
                    <a:pt x="36068" y="1403207"/>
                    <a:pt x="21989" y="1389127"/>
                  </a:cubicBezTo>
                  <a:cubicBezTo>
                    <a:pt x="7910" y="1375048"/>
                    <a:pt x="0" y="1355953"/>
                    <a:pt x="0" y="1336041"/>
                  </a:cubicBezTo>
                  <a:lnTo>
                    <a:pt x="0" y="75075"/>
                  </a:lnTo>
                  <a:cubicBezTo>
                    <a:pt x="0" y="55164"/>
                    <a:pt x="7910" y="36068"/>
                    <a:pt x="21989" y="21989"/>
                  </a:cubicBezTo>
                  <a:cubicBezTo>
                    <a:pt x="36068" y="7910"/>
                    <a:pt x="55164" y="0"/>
                    <a:pt x="75075" y="0"/>
                  </a:cubicBezTo>
                  <a:close/>
                </a:path>
              </a:pathLst>
            </a:custGeom>
            <a:solidFill>
              <a:srgbClr val="E9E9E9"/>
            </a:solidFill>
            <a:ln w="95250" cap="rnd">
              <a:solidFill>
                <a:srgbClr val="3E969B"/>
              </a:solidFill>
              <a:prstDash val="solid"/>
              <a:round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357995" cy="1487316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604518" lvl="1" indent="-302259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Registro, solicitudes, certificados, reservas</a:t>
              </a:r>
            </a:p>
            <a:p>
              <a:pPr marL="604518" lvl="1" indent="-302259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Noticias, avisos, proyectos, actividades</a:t>
              </a:r>
            </a:p>
            <a:p>
              <a:pPr marL="604518" lvl="1" indent="-302259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Mapa comunitario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586574"/>
            <a:ext cx="16230600" cy="1091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78"/>
              </a:lnSpc>
              <a:spcBef>
                <a:spcPct val="0"/>
              </a:spcBef>
            </a:pPr>
            <a:r>
              <a:rPr lang="es-CL" sz="6978" spc="-139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Funcionalidades del Sistema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565931" y="4755301"/>
            <a:ext cx="5156138" cy="5357832"/>
            <a:chOff x="0" y="0"/>
            <a:chExt cx="1357995" cy="14111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57995" cy="1411116"/>
            </a:xfrm>
            <a:custGeom>
              <a:avLst/>
              <a:gdLst/>
              <a:ahLst/>
              <a:cxnLst/>
              <a:rect l="l" t="t" r="r" b="b"/>
              <a:pathLst>
                <a:path w="1357995" h="1411116">
                  <a:moveTo>
                    <a:pt x="75075" y="0"/>
                  </a:moveTo>
                  <a:lnTo>
                    <a:pt x="1282921" y="0"/>
                  </a:lnTo>
                  <a:cubicBezTo>
                    <a:pt x="1324383" y="0"/>
                    <a:pt x="1357995" y="33612"/>
                    <a:pt x="1357995" y="75075"/>
                  </a:cubicBezTo>
                  <a:lnTo>
                    <a:pt x="1357995" y="1336041"/>
                  </a:lnTo>
                  <a:cubicBezTo>
                    <a:pt x="1357995" y="1355953"/>
                    <a:pt x="1350086" y="1375048"/>
                    <a:pt x="1336006" y="1389127"/>
                  </a:cubicBezTo>
                  <a:cubicBezTo>
                    <a:pt x="1321927" y="1403207"/>
                    <a:pt x="1302832" y="1411116"/>
                    <a:pt x="1282921" y="1411116"/>
                  </a:cubicBezTo>
                  <a:lnTo>
                    <a:pt x="75075" y="1411116"/>
                  </a:lnTo>
                  <a:cubicBezTo>
                    <a:pt x="55164" y="1411116"/>
                    <a:pt x="36068" y="1403207"/>
                    <a:pt x="21989" y="1389127"/>
                  </a:cubicBezTo>
                  <a:cubicBezTo>
                    <a:pt x="7910" y="1375048"/>
                    <a:pt x="0" y="1355953"/>
                    <a:pt x="0" y="1336041"/>
                  </a:cubicBezTo>
                  <a:lnTo>
                    <a:pt x="0" y="75075"/>
                  </a:lnTo>
                  <a:cubicBezTo>
                    <a:pt x="0" y="55164"/>
                    <a:pt x="7910" y="36068"/>
                    <a:pt x="21989" y="21989"/>
                  </a:cubicBezTo>
                  <a:cubicBezTo>
                    <a:pt x="36068" y="7910"/>
                    <a:pt x="55164" y="0"/>
                    <a:pt x="75075" y="0"/>
                  </a:cubicBezTo>
                  <a:close/>
                </a:path>
              </a:pathLst>
            </a:custGeom>
            <a:solidFill>
              <a:srgbClr val="E9E9E9"/>
            </a:solidFill>
            <a:ln w="95250" cap="rnd">
              <a:solidFill>
                <a:srgbClr val="3E969B"/>
              </a:solidFill>
              <a:prstDash val="solid"/>
              <a:round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357995" cy="1487316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604519" lvl="1" indent="-302260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Aprobar registros</a:t>
              </a:r>
            </a:p>
            <a:p>
              <a:pPr marL="604519" lvl="1" indent="-302260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Gestionar solicitudes y reservas</a:t>
              </a:r>
            </a:p>
            <a:p>
              <a:pPr marL="604519" lvl="1" indent="-302260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Emitir certificados</a:t>
              </a:r>
            </a:p>
            <a:p>
              <a:pPr marL="604519" lvl="1" indent="-302260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Publicar contenido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80698" y="4755301"/>
            <a:ext cx="5156138" cy="5357832"/>
            <a:chOff x="0" y="0"/>
            <a:chExt cx="1357995" cy="14111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7995" cy="1411116"/>
            </a:xfrm>
            <a:custGeom>
              <a:avLst/>
              <a:gdLst/>
              <a:ahLst/>
              <a:cxnLst/>
              <a:rect l="l" t="t" r="r" b="b"/>
              <a:pathLst>
                <a:path w="1357995" h="1411116">
                  <a:moveTo>
                    <a:pt x="75075" y="0"/>
                  </a:moveTo>
                  <a:lnTo>
                    <a:pt x="1282921" y="0"/>
                  </a:lnTo>
                  <a:cubicBezTo>
                    <a:pt x="1324383" y="0"/>
                    <a:pt x="1357995" y="33612"/>
                    <a:pt x="1357995" y="75075"/>
                  </a:cubicBezTo>
                  <a:lnTo>
                    <a:pt x="1357995" y="1336041"/>
                  </a:lnTo>
                  <a:cubicBezTo>
                    <a:pt x="1357995" y="1355953"/>
                    <a:pt x="1350086" y="1375048"/>
                    <a:pt x="1336006" y="1389127"/>
                  </a:cubicBezTo>
                  <a:cubicBezTo>
                    <a:pt x="1321927" y="1403207"/>
                    <a:pt x="1302832" y="1411116"/>
                    <a:pt x="1282921" y="1411116"/>
                  </a:cubicBezTo>
                  <a:lnTo>
                    <a:pt x="75075" y="1411116"/>
                  </a:lnTo>
                  <a:cubicBezTo>
                    <a:pt x="55164" y="1411116"/>
                    <a:pt x="36068" y="1403207"/>
                    <a:pt x="21989" y="1389127"/>
                  </a:cubicBezTo>
                  <a:cubicBezTo>
                    <a:pt x="7910" y="1375048"/>
                    <a:pt x="0" y="1355953"/>
                    <a:pt x="0" y="1336041"/>
                  </a:cubicBezTo>
                  <a:lnTo>
                    <a:pt x="0" y="75075"/>
                  </a:lnTo>
                  <a:cubicBezTo>
                    <a:pt x="0" y="55164"/>
                    <a:pt x="7910" y="36068"/>
                    <a:pt x="21989" y="21989"/>
                  </a:cubicBezTo>
                  <a:cubicBezTo>
                    <a:pt x="36068" y="7910"/>
                    <a:pt x="55164" y="0"/>
                    <a:pt x="75075" y="0"/>
                  </a:cubicBezTo>
                  <a:close/>
                </a:path>
              </a:pathLst>
            </a:custGeom>
            <a:solidFill>
              <a:srgbClr val="E9E9E9"/>
            </a:solidFill>
            <a:ln w="95250" cap="rnd">
              <a:solidFill>
                <a:srgbClr val="3E969B"/>
              </a:solidFill>
              <a:prstDash val="solid"/>
              <a:round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357995" cy="1487316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604518" lvl="1" indent="-302259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Configuración de organización</a:t>
              </a:r>
            </a:p>
            <a:p>
              <a:pPr marL="604518" lvl="1" indent="-302259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Gestión de espacios, usuarios y directiva</a:t>
              </a:r>
            </a:p>
            <a:p>
              <a:pPr marL="604518" lvl="1" indent="-302259" algn="l">
                <a:lnSpc>
                  <a:spcPts val="4199"/>
                </a:lnSpc>
                <a:buFont typeface="Arial"/>
                <a:buChar char="•"/>
              </a:pPr>
              <a:r>
                <a:rPr lang="es-CL" sz="2799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Gestión global de contenidos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192250" y="2302732"/>
            <a:ext cx="4275837" cy="2452568"/>
            <a:chOff x="0" y="0"/>
            <a:chExt cx="7981950" cy="4578350"/>
          </a:xfrm>
        </p:grpSpPr>
        <p:sp>
          <p:nvSpPr>
            <p:cNvPr id="23" name="Freeform 23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-1088" r="-1088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7007485" y="2302732"/>
            <a:ext cx="4275837" cy="2452568"/>
            <a:chOff x="0" y="0"/>
            <a:chExt cx="7981950" cy="4578350"/>
          </a:xfrm>
        </p:grpSpPr>
        <p:sp>
          <p:nvSpPr>
            <p:cNvPr id="29" name="Freeform 29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-572" r="-5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12818848" y="2302732"/>
            <a:ext cx="4275837" cy="2452568"/>
            <a:chOff x="0" y="0"/>
            <a:chExt cx="7981950" cy="4578350"/>
          </a:xfrm>
        </p:grpSpPr>
        <p:sp>
          <p:nvSpPr>
            <p:cNvPr id="35" name="Freeform 35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l="-881" r="-881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F9F8B7CB-D8FB-4CCD-36E6-A1FA3FE0F424}"/>
              </a:ext>
            </a:extLst>
          </p:cNvPr>
          <p:cNvSpPr/>
          <p:nvPr/>
        </p:nvSpPr>
        <p:spPr>
          <a:xfrm>
            <a:off x="756243" y="4807004"/>
            <a:ext cx="5151059" cy="762168"/>
          </a:xfrm>
          <a:prstGeom prst="roundRect">
            <a:avLst/>
          </a:prstGeom>
          <a:solidFill>
            <a:srgbClr val="3E969B"/>
          </a:solidFill>
          <a:ln>
            <a:solidFill>
              <a:srgbClr val="3E96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dirty="0"/>
              <a:t>VECINO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8A0A4943-8AA0-666A-CD7B-87BD34E392D2}"/>
              </a:ext>
            </a:extLst>
          </p:cNvPr>
          <p:cNvSpPr/>
          <p:nvPr/>
        </p:nvSpPr>
        <p:spPr>
          <a:xfrm>
            <a:off x="6586250" y="4787955"/>
            <a:ext cx="5151059" cy="762168"/>
          </a:xfrm>
          <a:prstGeom prst="roundRect">
            <a:avLst/>
          </a:prstGeom>
          <a:solidFill>
            <a:srgbClr val="3E969B"/>
          </a:solidFill>
          <a:ln>
            <a:solidFill>
              <a:srgbClr val="3E96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dirty="0"/>
              <a:t>SECRETARÍA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9B6427E6-7F97-E4EB-149F-48186F54C3C3}"/>
              </a:ext>
            </a:extLst>
          </p:cNvPr>
          <p:cNvSpPr/>
          <p:nvPr/>
        </p:nvSpPr>
        <p:spPr>
          <a:xfrm>
            <a:off x="12416258" y="4804603"/>
            <a:ext cx="5115499" cy="762168"/>
          </a:xfrm>
          <a:prstGeom prst="roundRect">
            <a:avLst/>
          </a:prstGeom>
          <a:solidFill>
            <a:srgbClr val="3E969B"/>
          </a:solidFill>
          <a:ln>
            <a:solidFill>
              <a:srgbClr val="3E96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4000" dirty="0"/>
              <a:t>ADMINISTRADOR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" name="Group 3"/>
          <p:cNvGrpSpPr/>
          <p:nvPr/>
        </p:nvGrpSpPr>
        <p:grpSpPr>
          <a:xfrm>
            <a:off x="-310163" y="-105182"/>
            <a:ext cx="9799267" cy="1934593"/>
            <a:chOff x="0" y="0"/>
            <a:chExt cx="2580877" cy="5095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80877" cy="509523"/>
            </a:xfrm>
            <a:custGeom>
              <a:avLst/>
              <a:gdLst/>
              <a:ahLst/>
              <a:cxnLst/>
              <a:rect l="l" t="t" r="r" b="b"/>
              <a:pathLst>
                <a:path w="2580877" h="509523">
                  <a:moveTo>
                    <a:pt x="33182" y="0"/>
                  </a:moveTo>
                  <a:lnTo>
                    <a:pt x="2547695" y="0"/>
                  </a:lnTo>
                  <a:cubicBezTo>
                    <a:pt x="2556495" y="0"/>
                    <a:pt x="2564935" y="3496"/>
                    <a:pt x="2571158" y="9719"/>
                  </a:cubicBezTo>
                  <a:cubicBezTo>
                    <a:pt x="2577381" y="15942"/>
                    <a:pt x="2580877" y="24382"/>
                    <a:pt x="2580877" y="33182"/>
                  </a:cubicBezTo>
                  <a:lnTo>
                    <a:pt x="2580877" y="476340"/>
                  </a:lnTo>
                  <a:cubicBezTo>
                    <a:pt x="2580877" y="494666"/>
                    <a:pt x="2566021" y="509523"/>
                    <a:pt x="2547695" y="509523"/>
                  </a:cubicBezTo>
                  <a:lnTo>
                    <a:pt x="33182" y="509523"/>
                  </a:lnTo>
                  <a:cubicBezTo>
                    <a:pt x="14856" y="509523"/>
                    <a:pt x="0" y="494666"/>
                    <a:pt x="0" y="476340"/>
                  </a:cubicBezTo>
                  <a:lnTo>
                    <a:pt x="0" y="33182"/>
                  </a:lnTo>
                  <a:cubicBezTo>
                    <a:pt x="0" y="14856"/>
                    <a:pt x="14856" y="0"/>
                    <a:pt x="331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64A66">
                    <a:alpha val="100000"/>
                  </a:srgbClr>
                </a:gs>
                <a:gs pos="100000">
                  <a:srgbClr val="1C6D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2580877" cy="64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 lang="es-CL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03003" y="4976948"/>
            <a:ext cx="6779589" cy="2450999"/>
            <a:chOff x="0" y="0"/>
            <a:chExt cx="1752235" cy="645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2235" cy="645531"/>
            </a:xfrm>
            <a:custGeom>
              <a:avLst/>
              <a:gdLst/>
              <a:ahLst/>
              <a:cxnLst/>
              <a:rect l="l" t="t" r="r" b="b"/>
              <a:pathLst>
                <a:path w="1752235" h="645531">
                  <a:moveTo>
                    <a:pt x="19782" y="0"/>
                  </a:moveTo>
                  <a:lnTo>
                    <a:pt x="1732453" y="0"/>
                  </a:lnTo>
                  <a:cubicBezTo>
                    <a:pt x="1743378" y="0"/>
                    <a:pt x="1752235" y="8857"/>
                    <a:pt x="1752235" y="19782"/>
                  </a:cubicBezTo>
                  <a:lnTo>
                    <a:pt x="1752235" y="625748"/>
                  </a:lnTo>
                  <a:cubicBezTo>
                    <a:pt x="1752235" y="630995"/>
                    <a:pt x="1750151" y="636026"/>
                    <a:pt x="1746441" y="639736"/>
                  </a:cubicBezTo>
                  <a:cubicBezTo>
                    <a:pt x="1742731" y="643446"/>
                    <a:pt x="1737699" y="645531"/>
                    <a:pt x="1732453" y="645531"/>
                  </a:cubicBezTo>
                  <a:lnTo>
                    <a:pt x="19782" y="645531"/>
                  </a:lnTo>
                  <a:cubicBezTo>
                    <a:pt x="8857" y="645531"/>
                    <a:pt x="0" y="636674"/>
                    <a:pt x="0" y="625748"/>
                  </a:cubicBezTo>
                  <a:lnTo>
                    <a:pt x="0" y="19782"/>
                  </a:lnTo>
                  <a:cubicBezTo>
                    <a:pt x="0" y="8857"/>
                    <a:pt x="8857" y="0"/>
                    <a:pt x="19782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752235" cy="645531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marL="453392" lvl="1" indent="-226696" algn="l">
                <a:lnSpc>
                  <a:spcPts val="3570"/>
                </a:lnSpc>
                <a:buAutoNum type="arabicPeriod"/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Capa de Negocio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APIs</a:t>
              </a: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de certificados, reservas, noticias y proyectos</a:t>
              </a: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Webhooks</a:t>
              </a: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para Telegram y WhatsApp</a:t>
              </a: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Correos transaccionales y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chatbot</a:t>
              </a: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con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OpenAI</a:t>
              </a:r>
              <a:endParaRPr lang="es-CL" sz="17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46578" y="5143500"/>
            <a:ext cx="525814" cy="525814"/>
            <a:chOff x="0" y="0"/>
            <a:chExt cx="138486" cy="1384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486" cy="138486"/>
            </a:xfrm>
            <a:custGeom>
              <a:avLst/>
              <a:gdLst/>
              <a:ahLst/>
              <a:cxnLst/>
              <a:rect l="l" t="t" r="r" b="b"/>
              <a:pathLst>
                <a:path w="138486" h="138486">
                  <a:moveTo>
                    <a:pt x="69243" y="0"/>
                  </a:moveTo>
                  <a:lnTo>
                    <a:pt x="69243" y="0"/>
                  </a:lnTo>
                  <a:cubicBezTo>
                    <a:pt x="87607" y="0"/>
                    <a:pt x="105220" y="7295"/>
                    <a:pt x="118205" y="20281"/>
                  </a:cubicBezTo>
                  <a:cubicBezTo>
                    <a:pt x="131191" y="33266"/>
                    <a:pt x="138486" y="50879"/>
                    <a:pt x="138486" y="69243"/>
                  </a:cubicBezTo>
                  <a:lnTo>
                    <a:pt x="138486" y="69243"/>
                  </a:lnTo>
                  <a:cubicBezTo>
                    <a:pt x="138486" y="87607"/>
                    <a:pt x="131191" y="105220"/>
                    <a:pt x="118205" y="118205"/>
                  </a:cubicBezTo>
                  <a:cubicBezTo>
                    <a:pt x="105220" y="131191"/>
                    <a:pt x="87607" y="138486"/>
                    <a:pt x="69243" y="138486"/>
                  </a:cubicBezTo>
                  <a:lnTo>
                    <a:pt x="69243" y="138486"/>
                  </a:lnTo>
                  <a:cubicBezTo>
                    <a:pt x="50879" y="138486"/>
                    <a:pt x="33266" y="131191"/>
                    <a:pt x="20281" y="118205"/>
                  </a:cubicBezTo>
                  <a:cubicBezTo>
                    <a:pt x="7295" y="105220"/>
                    <a:pt x="0" y="87607"/>
                    <a:pt x="0" y="69243"/>
                  </a:cubicBezTo>
                  <a:lnTo>
                    <a:pt x="0" y="69243"/>
                  </a:lnTo>
                  <a:cubicBezTo>
                    <a:pt x="0" y="50879"/>
                    <a:pt x="7295" y="33266"/>
                    <a:pt x="20281" y="20281"/>
                  </a:cubicBezTo>
                  <a:cubicBezTo>
                    <a:pt x="33266" y="7295"/>
                    <a:pt x="50879" y="0"/>
                    <a:pt x="69243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38486" cy="281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6665628" y="6058206"/>
            <a:ext cx="0" cy="974977"/>
          </a:xfrm>
          <a:prstGeom prst="line">
            <a:avLst/>
          </a:prstGeom>
          <a:ln w="381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3" name="Group 13"/>
          <p:cNvGrpSpPr/>
          <p:nvPr/>
        </p:nvGrpSpPr>
        <p:grpSpPr>
          <a:xfrm>
            <a:off x="6403003" y="2406737"/>
            <a:ext cx="6779589" cy="2440906"/>
            <a:chOff x="0" y="0"/>
            <a:chExt cx="1752235" cy="6455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52235" cy="645531"/>
            </a:xfrm>
            <a:custGeom>
              <a:avLst/>
              <a:gdLst/>
              <a:ahLst/>
              <a:cxnLst/>
              <a:rect l="l" t="t" r="r" b="b"/>
              <a:pathLst>
                <a:path w="1752235" h="645531">
                  <a:moveTo>
                    <a:pt x="19782" y="0"/>
                  </a:moveTo>
                  <a:lnTo>
                    <a:pt x="1732453" y="0"/>
                  </a:lnTo>
                  <a:cubicBezTo>
                    <a:pt x="1743378" y="0"/>
                    <a:pt x="1752235" y="8857"/>
                    <a:pt x="1752235" y="19782"/>
                  </a:cubicBezTo>
                  <a:lnTo>
                    <a:pt x="1752235" y="625748"/>
                  </a:lnTo>
                  <a:cubicBezTo>
                    <a:pt x="1752235" y="630995"/>
                    <a:pt x="1750151" y="636026"/>
                    <a:pt x="1746441" y="639736"/>
                  </a:cubicBezTo>
                  <a:cubicBezTo>
                    <a:pt x="1742731" y="643446"/>
                    <a:pt x="1737699" y="645531"/>
                    <a:pt x="1732453" y="645531"/>
                  </a:cubicBezTo>
                  <a:lnTo>
                    <a:pt x="19782" y="645531"/>
                  </a:lnTo>
                  <a:cubicBezTo>
                    <a:pt x="8857" y="645531"/>
                    <a:pt x="0" y="636674"/>
                    <a:pt x="0" y="625748"/>
                  </a:cubicBezTo>
                  <a:lnTo>
                    <a:pt x="0" y="19782"/>
                  </a:lnTo>
                  <a:cubicBezTo>
                    <a:pt x="0" y="8857"/>
                    <a:pt x="8857" y="0"/>
                    <a:pt x="19782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752235" cy="645531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marL="453392" lvl="1" indent="-226696" algn="l">
                <a:lnSpc>
                  <a:spcPts val="3570"/>
                </a:lnSpc>
                <a:buAutoNum type="arabicPeriod"/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Capa de Presentación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Formularios, mapas interactivos, noticias y reservas</a:t>
              </a: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Gestión de sesiones y navegación según rol</a:t>
              </a: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Chatbot</a:t>
              </a: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integrado y componentes reutilizables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46578" y="2573288"/>
            <a:ext cx="525814" cy="525814"/>
            <a:chOff x="0" y="0"/>
            <a:chExt cx="138486" cy="1384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8486" cy="138486"/>
            </a:xfrm>
            <a:custGeom>
              <a:avLst/>
              <a:gdLst/>
              <a:ahLst/>
              <a:cxnLst/>
              <a:rect l="l" t="t" r="r" b="b"/>
              <a:pathLst>
                <a:path w="138486" h="138486">
                  <a:moveTo>
                    <a:pt x="69243" y="0"/>
                  </a:moveTo>
                  <a:lnTo>
                    <a:pt x="69243" y="0"/>
                  </a:lnTo>
                  <a:cubicBezTo>
                    <a:pt x="87607" y="0"/>
                    <a:pt x="105220" y="7295"/>
                    <a:pt x="118205" y="20281"/>
                  </a:cubicBezTo>
                  <a:cubicBezTo>
                    <a:pt x="131191" y="33266"/>
                    <a:pt x="138486" y="50879"/>
                    <a:pt x="138486" y="69243"/>
                  </a:cubicBezTo>
                  <a:lnTo>
                    <a:pt x="138486" y="69243"/>
                  </a:lnTo>
                  <a:cubicBezTo>
                    <a:pt x="138486" y="87607"/>
                    <a:pt x="131191" y="105220"/>
                    <a:pt x="118205" y="118205"/>
                  </a:cubicBezTo>
                  <a:cubicBezTo>
                    <a:pt x="105220" y="131191"/>
                    <a:pt x="87607" y="138486"/>
                    <a:pt x="69243" y="138486"/>
                  </a:cubicBezTo>
                  <a:lnTo>
                    <a:pt x="69243" y="138486"/>
                  </a:lnTo>
                  <a:cubicBezTo>
                    <a:pt x="50879" y="138486"/>
                    <a:pt x="33266" y="131191"/>
                    <a:pt x="20281" y="118205"/>
                  </a:cubicBezTo>
                  <a:cubicBezTo>
                    <a:pt x="7295" y="105220"/>
                    <a:pt x="0" y="87607"/>
                    <a:pt x="0" y="69243"/>
                  </a:cubicBezTo>
                  <a:lnTo>
                    <a:pt x="0" y="69243"/>
                  </a:lnTo>
                  <a:cubicBezTo>
                    <a:pt x="0" y="50879"/>
                    <a:pt x="7295" y="33266"/>
                    <a:pt x="20281" y="20281"/>
                  </a:cubicBezTo>
                  <a:cubicBezTo>
                    <a:pt x="33266" y="7295"/>
                    <a:pt x="50879" y="0"/>
                    <a:pt x="69243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38486" cy="281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19" name="AutoShape 19"/>
          <p:cNvSpPr/>
          <p:nvPr/>
        </p:nvSpPr>
        <p:spPr>
          <a:xfrm>
            <a:off x="6665628" y="3487994"/>
            <a:ext cx="0" cy="974977"/>
          </a:xfrm>
          <a:prstGeom prst="line">
            <a:avLst/>
          </a:prstGeom>
          <a:ln w="381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20" name="Group 20"/>
          <p:cNvGrpSpPr/>
          <p:nvPr/>
        </p:nvGrpSpPr>
        <p:grpSpPr>
          <a:xfrm>
            <a:off x="6403003" y="7547158"/>
            <a:ext cx="6779592" cy="2519097"/>
            <a:chOff x="0" y="-1215"/>
            <a:chExt cx="1752235" cy="6467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52235" cy="645531"/>
            </a:xfrm>
            <a:custGeom>
              <a:avLst/>
              <a:gdLst/>
              <a:ahLst/>
              <a:cxnLst/>
              <a:rect l="l" t="t" r="r" b="b"/>
              <a:pathLst>
                <a:path w="1752235" h="645531">
                  <a:moveTo>
                    <a:pt x="19782" y="0"/>
                  </a:moveTo>
                  <a:lnTo>
                    <a:pt x="1732453" y="0"/>
                  </a:lnTo>
                  <a:cubicBezTo>
                    <a:pt x="1743378" y="0"/>
                    <a:pt x="1752235" y="8857"/>
                    <a:pt x="1752235" y="19782"/>
                  </a:cubicBezTo>
                  <a:lnTo>
                    <a:pt x="1752235" y="625748"/>
                  </a:lnTo>
                  <a:cubicBezTo>
                    <a:pt x="1752235" y="630995"/>
                    <a:pt x="1750151" y="636026"/>
                    <a:pt x="1746441" y="639736"/>
                  </a:cubicBezTo>
                  <a:cubicBezTo>
                    <a:pt x="1742731" y="643446"/>
                    <a:pt x="1737699" y="645531"/>
                    <a:pt x="1732453" y="645531"/>
                  </a:cubicBezTo>
                  <a:lnTo>
                    <a:pt x="19782" y="645531"/>
                  </a:lnTo>
                  <a:cubicBezTo>
                    <a:pt x="8857" y="645531"/>
                    <a:pt x="0" y="636674"/>
                    <a:pt x="0" y="625748"/>
                  </a:cubicBezTo>
                  <a:lnTo>
                    <a:pt x="0" y="19782"/>
                  </a:lnTo>
                  <a:cubicBezTo>
                    <a:pt x="0" y="8857"/>
                    <a:pt x="8857" y="0"/>
                    <a:pt x="19782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215"/>
              <a:ext cx="1752235" cy="645531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marL="453392" lvl="1" indent="-226696" algn="l">
                <a:lnSpc>
                  <a:spcPts val="3570"/>
                </a:lnSpc>
                <a:buAutoNum type="arabicPeriod"/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Capa de Datos</a:t>
              </a:r>
            </a:p>
            <a:p>
              <a:pPr algn="l">
                <a:lnSpc>
                  <a:spcPts val="3060"/>
                </a:lnSpc>
              </a:pP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Auth</a:t>
              </a: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JWT con políticas por rol (Vecino, Secretaría,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Admin</a:t>
              </a: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)</a:t>
              </a:r>
            </a:p>
            <a:p>
              <a:pPr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12 tablas con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Row</a:t>
              </a: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s-CL" sz="17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Level</a:t>
              </a:r>
              <a:r>
                <a:rPr lang="es-CL" sz="170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s-CL" sz="170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Securiadjuntosty</a:t>
              </a:r>
              <a:r>
                <a:rPr lang="es-CL" sz="170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granular</a:t>
              </a:r>
            </a:p>
            <a:p>
              <a:pPr algn="l">
                <a:lnSpc>
                  <a:spcPts val="2890"/>
                </a:lnSpc>
              </a:pPr>
              <a:r>
                <a:rPr lang="es-CL" sz="17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Storage para documentos, imágenes 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46578" y="7718324"/>
            <a:ext cx="525814" cy="525814"/>
            <a:chOff x="0" y="0"/>
            <a:chExt cx="138486" cy="1384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8486" cy="138486"/>
            </a:xfrm>
            <a:custGeom>
              <a:avLst/>
              <a:gdLst/>
              <a:ahLst/>
              <a:cxnLst/>
              <a:rect l="l" t="t" r="r" b="b"/>
              <a:pathLst>
                <a:path w="138486" h="138486">
                  <a:moveTo>
                    <a:pt x="69243" y="0"/>
                  </a:moveTo>
                  <a:lnTo>
                    <a:pt x="69243" y="0"/>
                  </a:lnTo>
                  <a:cubicBezTo>
                    <a:pt x="87607" y="0"/>
                    <a:pt x="105220" y="7295"/>
                    <a:pt x="118205" y="20281"/>
                  </a:cubicBezTo>
                  <a:cubicBezTo>
                    <a:pt x="131191" y="33266"/>
                    <a:pt x="138486" y="50879"/>
                    <a:pt x="138486" y="69243"/>
                  </a:cubicBezTo>
                  <a:lnTo>
                    <a:pt x="138486" y="69243"/>
                  </a:lnTo>
                  <a:cubicBezTo>
                    <a:pt x="138486" y="87607"/>
                    <a:pt x="131191" y="105220"/>
                    <a:pt x="118205" y="118205"/>
                  </a:cubicBezTo>
                  <a:cubicBezTo>
                    <a:pt x="105220" y="131191"/>
                    <a:pt x="87607" y="138486"/>
                    <a:pt x="69243" y="138486"/>
                  </a:cubicBezTo>
                  <a:lnTo>
                    <a:pt x="69243" y="138486"/>
                  </a:lnTo>
                  <a:cubicBezTo>
                    <a:pt x="50879" y="138486"/>
                    <a:pt x="33266" y="131191"/>
                    <a:pt x="20281" y="118205"/>
                  </a:cubicBezTo>
                  <a:cubicBezTo>
                    <a:pt x="7295" y="105220"/>
                    <a:pt x="0" y="87607"/>
                    <a:pt x="0" y="69243"/>
                  </a:cubicBezTo>
                  <a:lnTo>
                    <a:pt x="0" y="69243"/>
                  </a:lnTo>
                  <a:cubicBezTo>
                    <a:pt x="0" y="50879"/>
                    <a:pt x="7295" y="33266"/>
                    <a:pt x="20281" y="20281"/>
                  </a:cubicBezTo>
                  <a:cubicBezTo>
                    <a:pt x="33266" y="7295"/>
                    <a:pt x="50879" y="0"/>
                    <a:pt x="69243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42875"/>
              <a:ext cx="138486" cy="281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26" name="AutoShape 26"/>
          <p:cNvSpPr/>
          <p:nvPr/>
        </p:nvSpPr>
        <p:spPr>
          <a:xfrm>
            <a:off x="6665628" y="8633030"/>
            <a:ext cx="0" cy="974977"/>
          </a:xfrm>
          <a:prstGeom prst="line">
            <a:avLst/>
          </a:prstGeom>
          <a:ln w="381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27" name="Group 27"/>
          <p:cNvGrpSpPr/>
          <p:nvPr/>
        </p:nvGrpSpPr>
        <p:grpSpPr>
          <a:xfrm>
            <a:off x="718460" y="4857731"/>
            <a:ext cx="5251790" cy="1149830"/>
            <a:chOff x="0" y="-1"/>
            <a:chExt cx="1383188" cy="3028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83188" cy="302835"/>
            </a:xfrm>
            <a:custGeom>
              <a:avLst/>
              <a:gdLst/>
              <a:ahLst/>
              <a:cxnLst/>
              <a:rect l="l" t="t" r="r" b="b"/>
              <a:pathLst>
                <a:path w="1383188" h="302835">
                  <a:moveTo>
                    <a:pt x="25061" y="0"/>
                  </a:moveTo>
                  <a:lnTo>
                    <a:pt x="1358127" y="0"/>
                  </a:lnTo>
                  <a:cubicBezTo>
                    <a:pt x="1371968" y="0"/>
                    <a:pt x="1383188" y="11220"/>
                    <a:pt x="1383188" y="25061"/>
                  </a:cubicBezTo>
                  <a:lnTo>
                    <a:pt x="1383188" y="277774"/>
                  </a:lnTo>
                  <a:cubicBezTo>
                    <a:pt x="1383188" y="291615"/>
                    <a:pt x="1371968" y="302835"/>
                    <a:pt x="1358127" y="302835"/>
                  </a:cubicBezTo>
                  <a:lnTo>
                    <a:pt x="25061" y="302835"/>
                  </a:lnTo>
                  <a:cubicBezTo>
                    <a:pt x="11220" y="302835"/>
                    <a:pt x="0" y="291615"/>
                    <a:pt x="0" y="277774"/>
                  </a:cubicBezTo>
                  <a:lnTo>
                    <a:pt x="0" y="25061"/>
                  </a:lnTo>
                  <a:cubicBezTo>
                    <a:pt x="0" y="11220"/>
                    <a:pt x="11220" y="0"/>
                    <a:pt x="25061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"/>
              <a:ext cx="1383188" cy="302836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Next.js </a:t>
              </a:r>
              <a:r>
                <a:rPr lang="es-CL" sz="2100" noProof="0" dirty="0" err="1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Frontend</a:t>
              </a: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550"/>
                </a:lnSpc>
              </a:pPr>
              <a:r>
                <a:rPr lang="es-CL" sz="15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App </a:t>
              </a:r>
              <a:r>
                <a:rPr lang="es-CL" sz="15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Router</a:t>
              </a:r>
              <a:r>
                <a:rPr lang="es-CL" sz="15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· </a:t>
              </a:r>
              <a:r>
                <a:rPr lang="es-CL" sz="15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React</a:t>
              </a:r>
              <a:r>
                <a:rPr lang="es-CL" sz="15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· Bootstrap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756560" y="4857735"/>
            <a:ext cx="0" cy="1149826"/>
          </a:xfrm>
          <a:prstGeom prst="line">
            <a:avLst/>
          </a:prstGeom>
          <a:ln w="762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1" name="Group 31"/>
          <p:cNvGrpSpPr/>
          <p:nvPr/>
        </p:nvGrpSpPr>
        <p:grpSpPr>
          <a:xfrm>
            <a:off x="718460" y="6853034"/>
            <a:ext cx="5251790" cy="1149826"/>
            <a:chOff x="0" y="0"/>
            <a:chExt cx="1383188" cy="30283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83188" cy="302835"/>
            </a:xfrm>
            <a:custGeom>
              <a:avLst/>
              <a:gdLst/>
              <a:ahLst/>
              <a:cxnLst/>
              <a:rect l="l" t="t" r="r" b="b"/>
              <a:pathLst>
                <a:path w="1383188" h="302835">
                  <a:moveTo>
                    <a:pt x="25061" y="0"/>
                  </a:moveTo>
                  <a:lnTo>
                    <a:pt x="1358127" y="0"/>
                  </a:lnTo>
                  <a:cubicBezTo>
                    <a:pt x="1371968" y="0"/>
                    <a:pt x="1383188" y="11220"/>
                    <a:pt x="1383188" y="25061"/>
                  </a:cubicBezTo>
                  <a:lnTo>
                    <a:pt x="1383188" y="277774"/>
                  </a:lnTo>
                  <a:cubicBezTo>
                    <a:pt x="1383188" y="291615"/>
                    <a:pt x="1371968" y="302835"/>
                    <a:pt x="1358127" y="302835"/>
                  </a:cubicBezTo>
                  <a:lnTo>
                    <a:pt x="25061" y="302835"/>
                  </a:lnTo>
                  <a:cubicBezTo>
                    <a:pt x="11220" y="302835"/>
                    <a:pt x="0" y="291615"/>
                    <a:pt x="0" y="277774"/>
                  </a:cubicBezTo>
                  <a:lnTo>
                    <a:pt x="0" y="25061"/>
                  </a:lnTo>
                  <a:cubicBezTo>
                    <a:pt x="0" y="11220"/>
                    <a:pt x="11220" y="0"/>
                    <a:pt x="25061" y="0"/>
                  </a:cubicBez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3501"/>
              <a:ext cx="1383188" cy="29933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Capa </a:t>
              </a:r>
              <a:r>
                <a:rPr lang="es-CL" sz="2100" noProof="0" dirty="0" err="1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Backend</a:t>
              </a: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550"/>
                </a:lnSpc>
              </a:pPr>
              <a:r>
                <a:rPr lang="es-CL" sz="15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API </a:t>
              </a:r>
              <a:r>
                <a:rPr lang="es-CL" sz="15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Routes</a:t>
              </a:r>
              <a:r>
                <a:rPr lang="es-CL" sz="15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· Server </a:t>
              </a:r>
              <a:r>
                <a:rPr lang="es-CL" sz="15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Actions</a:t>
              </a:r>
              <a:r>
                <a:rPr lang="es-CL" sz="15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· </a:t>
              </a:r>
              <a:r>
                <a:rPr lang="es-CL" sz="15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Webhooks</a:t>
              </a:r>
              <a:endParaRPr lang="es-CL" sz="15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34" name="AutoShape 34"/>
          <p:cNvSpPr/>
          <p:nvPr/>
        </p:nvSpPr>
        <p:spPr>
          <a:xfrm>
            <a:off x="756560" y="6853034"/>
            <a:ext cx="0" cy="1149826"/>
          </a:xfrm>
          <a:prstGeom prst="line">
            <a:avLst/>
          </a:prstGeom>
          <a:ln w="762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35" name="Group 35"/>
          <p:cNvGrpSpPr/>
          <p:nvPr/>
        </p:nvGrpSpPr>
        <p:grpSpPr>
          <a:xfrm>
            <a:off x="718460" y="8916426"/>
            <a:ext cx="5251790" cy="1149830"/>
            <a:chOff x="0" y="-1"/>
            <a:chExt cx="1383188" cy="3028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83188" cy="302835"/>
            </a:xfrm>
            <a:custGeom>
              <a:avLst/>
              <a:gdLst/>
              <a:ahLst/>
              <a:cxnLst/>
              <a:rect l="l" t="t" r="r" b="b"/>
              <a:pathLst>
                <a:path w="1383188" h="302835">
                  <a:moveTo>
                    <a:pt x="25061" y="0"/>
                  </a:moveTo>
                  <a:lnTo>
                    <a:pt x="1358127" y="0"/>
                  </a:lnTo>
                  <a:cubicBezTo>
                    <a:pt x="1371968" y="0"/>
                    <a:pt x="1383188" y="11220"/>
                    <a:pt x="1383188" y="25061"/>
                  </a:cubicBezTo>
                  <a:lnTo>
                    <a:pt x="1383188" y="277774"/>
                  </a:lnTo>
                  <a:cubicBezTo>
                    <a:pt x="1383188" y="291615"/>
                    <a:pt x="1371968" y="302835"/>
                    <a:pt x="1358127" y="302835"/>
                  </a:cubicBezTo>
                  <a:lnTo>
                    <a:pt x="25061" y="302835"/>
                  </a:lnTo>
                  <a:cubicBezTo>
                    <a:pt x="11220" y="302835"/>
                    <a:pt x="0" y="291615"/>
                    <a:pt x="0" y="277774"/>
                  </a:cubicBezTo>
                  <a:lnTo>
                    <a:pt x="0" y="25061"/>
                  </a:lnTo>
                  <a:cubicBezTo>
                    <a:pt x="0" y="11220"/>
                    <a:pt x="11220" y="0"/>
                    <a:pt x="25061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"/>
              <a:ext cx="1383188" cy="302835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3570"/>
                </a:lnSpc>
              </a:pPr>
              <a:r>
                <a:rPr lang="es-CL" sz="2100" noProof="0" dirty="0" err="1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Supabase</a:t>
              </a:r>
              <a:endParaRPr lang="es-CL" sz="2100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l">
                <a:lnSpc>
                  <a:spcPts val="2550"/>
                </a:lnSpc>
              </a:pPr>
              <a:r>
                <a:rPr lang="es-CL" sz="1500" noProof="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PostgreSQL · </a:t>
              </a:r>
              <a:r>
                <a:rPr lang="es-CL" sz="1500" noProof="0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Auth</a:t>
              </a:r>
              <a:r>
                <a:rPr lang="es-CL" sz="1500" noProof="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· Storage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865797" y="2406736"/>
            <a:ext cx="957116" cy="957116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961484" y="3567431"/>
            <a:ext cx="2839116" cy="895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87"/>
              </a:lnSpc>
            </a:pPr>
            <a:r>
              <a:rPr lang="es-CL" sz="1700" noProof="0" dirty="0">
                <a:solidFill>
                  <a:srgbClr val="00000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Usuario</a:t>
            </a:r>
          </a:p>
          <a:p>
            <a:pPr algn="ctr">
              <a:lnSpc>
                <a:spcPts val="1887"/>
              </a:lnSpc>
            </a:pPr>
            <a:r>
              <a:rPr lang="es-CL" sz="17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Vecino · Secretaría · </a:t>
            </a:r>
            <a:r>
              <a:rPr lang="es-CL" sz="1700" noProof="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Admin</a:t>
            </a:r>
            <a:endParaRPr lang="es-CL" sz="1700" noProof="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570"/>
              </a:lnSpc>
              <a:spcBef>
                <a:spcPct val="0"/>
              </a:spcBef>
            </a:pPr>
            <a:endParaRPr lang="es-CL" sz="1700" noProof="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3159450" y="4363978"/>
            <a:ext cx="369810" cy="369810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3200" y="-142875"/>
              <a:ext cx="406400" cy="85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159450" y="6092603"/>
            <a:ext cx="369810" cy="369810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3200" y="-142875"/>
              <a:ext cx="406400" cy="85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59450" y="8137875"/>
            <a:ext cx="369810" cy="369810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03200" y="-142875"/>
              <a:ext cx="406400" cy="854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51" name="Freeform 51"/>
          <p:cNvSpPr/>
          <p:nvPr/>
        </p:nvSpPr>
        <p:spPr>
          <a:xfrm>
            <a:off x="3098006" y="2630304"/>
            <a:ext cx="492697" cy="509906"/>
          </a:xfrm>
          <a:custGeom>
            <a:avLst/>
            <a:gdLst/>
            <a:ahLst/>
            <a:cxnLst/>
            <a:rect l="l" t="t" r="r" b="b"/>
            <a:pathLst>
              <a:path w="492697" h="509906">
                <a:moveTo>
                  <a:pt x="0" y="0"/>
                </a:moveTo>
                <a:lnTo>
                  <a:pt x="492697" y="0"/>
                </a:lnTo>
                <a:lnTo>
                  <a:pt x="492697" y="509906"/>
                </a:lnTo>
                <a:lnTo>
                  <a:pt x="0" y="509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2" name="Freeform 52"/>
          <p:cNvSpPr/>
          <p:nvPr/>
        </p:nvSpPr>
        <p:spPr>
          <a:xfrm>
            <a:off x="6691491" y="2649910"/>
            <a:ext cx="435987" cy="372571"/>
          </a:xfrm>
          <a:custGeom>
            <a:avLst/>
            <a:gdLst/>
            <a:ahLst/>
            <a:cxnLst/>
            <a:rect l="l" t="t" r="r" b="b"/>
            <a:pathLst>
              <a:path w="435987" h="372571">
                <a:moveTo>
                  <a:pt x="0" y="0"/>
                </a:moveTo>
                <a:lnTo>
                  <a:pt x="435987" y="0"/>
                </a:lnTo>
                <a:lnTo>
                  <a:pt x="435987" y="372571"/>
                </a:lnTo>
                <a:lnTo>
                  <a:pt x="0" y="372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3" name="TextBox 53"/>
          <p:cNvSpPr txBox="1"/>
          <p:nvPr/>
        </p:nvSpPr>
        <p:spPr>
          <a:xfrm>
            <a:off x="514350" y="283208"/>
            <a:ext cx="8545713" cy="112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0"/>
              </a:lnSpc>
              <a:spcBef>
                <a:spcPct val="0"/>
              </a:spcBef>
            </a:pPr>
            <a:r>
              <a:rPr lang="es-CL" sz="7100" spc="-142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Arquitectura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449957" y="6557664"/>
            <a:ext cx="181724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87"/>
              </a:lnSpc>
              <a:spcBef>
                <a:spcPct val="0"/>
              </a:spcBef>
            </a:pPr>
            <a:r>
              <a:rPr lang="es-CL" sz="17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API </a:t>
            </a:r>
            <a:r>
              <a:rPr lang="es-CL" sz="1700" noProof="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Calls</a:t>
            </a:r>
            <a:r>
              <a:rPr lang="es-CL" sz="17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(HTTPS)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319464" y="8602935"/>
            <a:ext cx="210013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87"/>
              </a:lnSpc>
              <a:spcBef>
                <a:spcPct val="0"/>
              </a:spcBef>
            </a:pPr>
            <a:r>
              <a:rPr lang="es-CL" sz="17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SQL · </a:t>
            </a:r>
            <a:r>
              <a:rPr lang="es-CL" sz="1700" noProof="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Auth</a:t>
            </a:r>
            <a:r>
              <a:rPr lang="es-CL" sz="17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· Storage</a:t>
            </a:r>
          </a:p>
        </p:txBody>
      </p:sp>
      <p:sp>
        <p:nvSpPr>
          <p:cNvPr id="56" name="Freeform 56"/>
          <p:cNvSpPr/>
          <p:nvPr/>
        </p:nvSpPr>
        <p:spPr>
          <a:xfrm>
            <a:off x="6691491" y="5220121"/>
            <a:ext cx="435987" cy="372571"/>
          </a:xfrm>
          <a:custGeom>
            <a:avLst/>
            <a:gdLst/>
            <a:ahLst/>
            <a:cxnLst/>
            <a:rect l="l" t="t" r="r" b="b"/>
            <a:pathLst>
              <a:path w="435987" h="372571">
                <a:moveTo>
                  <a:pt x="0" y="0"/>
                </a:moveTo>
                <a:lnTo>
                  <a:pt x="435987" y="0"/>
                </a:lnTo>
                <a:lnTo>
                  <a:pt x="435987" y="372571"/>
                </a:lnTo>
                <a:lnTo>
                  <a:pt x="0" y="372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7" name="Freeform 57"/>
          <p:cNvSpPr/>
          <p:nvPr/>
        </p:nvSpPr>
        <p:spPr>
          <a:xfrm>
            <a:off x="6691491" y="7794945"/>
            <a:ext cx="435987" cy="372571"/>
          </a:xfrm>
          <a:custGeom>
            <a:avLst/>
            <a:gdLst/>
            <a:ahLst/>
            <a:cxnLst/>
            <a:rect l="l" t="t" r="r" b="b"/>
            <a:pathLst>
              <a:path w="435987" h="372571">
                <a:moveTo>
                  <a:pt x="0" y="0"/>
                </a:moveTo>
                <a:lnTo>
                  <a:pt x="435987" y="0"/>
                </a:lnTo>
                <a:lnTo>
                  <a:pt x="435987" y="372571"/>
                </a:lnTo>
                <a:lnTo>
                  <a:pt x="0" y="372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61" name="AutoShape 61"/>
          <p:cNvSpPr/>
          <p:nvPr/>
        </p:nvSpPr>
        <p:spPr>
          <a:xfrm>
            <a:off x="756560" y="8916430"/>
            <a:ext cx="0" cy="1149826"/>
          </a:xfrm>
          <a:prstGeom prst="line">
            <a:avLst/>
          </a:prstGeom>
          <a:ln w="123825" cap="flat">
            <a:solidFill>
              <a:srgbClr val="E9E9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D83B66E5-3D59-4FCD-0DDF-A7DA987B2129}"/>
              </a:ext>
            </a:extLst>
          </p:cNvPr>
          <p:cNvSpPr txBox="1"/>
          <p:nvPr/>
        </p:nvSpPr>
        <p:spPr>
          <a:xfrm>
            <a:off x="4341137" y="4649884"/>
            <a:ext cx="9297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71" name="Imagen 70">
            <a:extLst>
              <a:ext uri="{FF2B5EF4-FFF2-40B4-BE49-F238E27FC236}">
                <a16:creationId xmlns:a16="http://schemas.microsoft.com/office/drawing/2014/main" id="{637587AA-5668-C090-F8B3-32420EFB35F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8550" y="3102998"/>
            <a:ext cx="2847837" cy="2959895"/>
          </a:xfrm>
          <a:prstGeom prst="rect">
            <a:avLst/>
          </a:prstGeom>
          <a:ln w="28575">
            <a:solidFill>
              <a:srgbClr val="24566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9" name="Imagen 68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68EA7631-18E4-E4F8-95FD-52DC908BFD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6326" y="4363978"/>
            <a:ext cx="2532712" cy="3148137"/>
          </a:xfrm>
          <a:prstGeom prst="rect">
            <a:avLst/>
          </a:prstGeom>
          <a:ln w="28575">
            <a:solidFill>
              <a:srgbClr val="24566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7" name="Imagen 66" descr="Mapa&#10;&#10;El contenido generado por IA puede ser incorrecto.">
            <a:extLst>
              <a:ext uri="{FF2B5EF4-FFF2-40B4-BE49-F238E27FC236}">
                <a16:creationId xmlns:a16="http://schemas.microsoft.com/office/drawing/2014/main" id="{F82EA17C-95CE-489F-4FE6-4F1B9FC719D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978" y="6503470"/>
            <a:ext cx="2847836" cy="2117487"/>
          </a:xfrm>
          <a:prstGeom prst="rect">
            <a:avLst/>
          </a:prstGeom>
          <a:ln w="28575">
            <a:solidFill>
              <a:srgbClr val="24566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163" y="-105182"/>
            <a:ext cx="9799267" cy="1934593"/>
            <a:chOff x="0" y="0"/>
            <a:chExt cx="2580877" cy="509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0877" cy="509523"/>
            </a:xfrm>
            <a:custGeom>
              <a:avLst/>
              <a:gdLst/>
              <a:ahLst/>
              <a:cxnLst/>
              <a:rect l="l" t="t" r="r" b="b"/>
              <a:pathLst>
                <a:path w="2580877" h="509523">
                  <a:moveTo>
                    <a:pt x="33182" y="0"/>
                  </a:moveTo>
                  <a:lnTo>
                    <a:pt x="2547695" y="0"/>
                  </a:lnTo>
                  <a:cubicBezTo>
                    <a:pt x="2556495" y="0"/>
                    <a:pt x="2564935" y="3496"/>
                    <a:pt x="2571158" y="9719"/>
                  </a:cubicBezTo>
                  <a:cubicBezTo>
                    <a:pt x="2577381" y="15942"/>
                    <a:pt x="2580877" y="24382"/>
                    <a:pt x="2580877" y="33182"/>
                  </a:cubicBezTo>
                  <a:lnTo>
                    <a:pt x="2580877" y="476340"/>
                  </a:lnTo>
                  <a:cubicBezTo>
                    <a:pt x="2580877" y="494666"/>
                    <a:pt x="2566021" y="509523"/>
                    <a:pt x="2547695" y="509523"/>
                  </a:cubicBezTo>
                  <a:lnTo>
                    <a:pt x="33182" y="509523"/>
                  </a:lnTo>
                  <a:cubicBezTo>
                    <a:pt x="14856" y="509523"/>
                    <a:pt x="0" y="494666"/>
                    <a:pt x="0" y="476340"/>
                  </a:cubicBezTo>
                  <a:lnTo>
                    <a:pt x="0" y="33182"/>
                  </a:lnTo>
                  <a:cubicBezTo>
                    <a:pt x="0" y="14856"/>
                    <a:pt x="14856" y="0"/>
                    <a:pt x="331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64A66">
                    <a:alpha val="100000"/>
                  </a:srgbClr>
                </a:gs>
                <a:gs pos="100000">
                  <a:srgbClr val="1C6D73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2580877" cy="64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00"/>
                </a:lnSpc>
              </a:pPr>
              <a:endParaRPr lang="es-CL" noProof="0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6" name="Group 6"/>
          <p:cNvGrpSpPr/>
          <p:nvPr/>
        </p:nvGrpSpPr>
        <p:grpSpPr>
          <a:xfrm>
            <a:off x="563101" y="3297620"/>
            <a:ext cx="5572973" cy="5343258"/>
            <a:chOff x="0" y="0"/>
            <a:chExt cx="1467779" cy="14072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7779" cy="1407278"/>
            </a:xfrm>
            <a:custGeom>
              <a:avLst/>
              <a:gdLst/>
              <a:ahLst/>
              <a:cxnLst/>
              <a:rect l="l" t="t" r="r" b="b"/>
              <a:pathLst>
                <a:path w="1467779" h="140727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1394775"/>
                  </a:lnTo>
                  <a:cubicBezTo>
                    <a:pt x="1467779" y="1398091"/>
                    <a:pt x="1466462" y="1401271"/>
                    <a:pt x="1464117" y="1403616"/>
                  </a:cubicBezTo>
                  <a:cubicBezTo>
                    <a:pt x="1461772" y="1405961"/>
                    <a:pt x="1458592" y="1407278"/>
                    <a:pt x="1455276" y="1407278"/>
                  </a:cubicBezTo>
                  <a:lnTo>
                    <a:pt x="12503" y="1407278"/>
                  </a:lnTo>
                  <a:cubicBezTo>
                    <a:pt x="9187" y="1407278"/>
                    <a:pt x="6007" y="1405961"/>
                    <a:pt x="3662" y="1403616"/>
                  </a:cubicBezTo>
                  <a:cubicBezTo>
                    <a:pt x="1317" y="1401271"/>
                    <a:pt x="0" y="1398091"/>
                    <a:pt x="0" y="1394775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E9E9E9"/>
            </a:solidFill>
            <a:ln w="38100" cap="sq">
              <a:solidFill>
                <a:srgbClr val="24566D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467779" cy="1407278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just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</a:t>
              </a:r>
              <a:r>
                <a:rPr lang="es-CL" sz="2100" noProof="0" dirty="0" err="1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Frontend</a:t>
              </a: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just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Interfaz de Usuario</a:t>
              </a:r>
            </a:p>
            <a:p>
              <a:pPr algn="l">
                <a:lnSpc>
                  <a:spcPts val="3570"/>
                </a:lnSpc>
              </a:pPr>
              <a:endParaRPr lang="es-CL" sz="19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Next.js 14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con App </a:t>
              </a:r>
              <a:r>
                <a:rPr lang="es-CL" sz="21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Router</a:t>
              </a: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 err="1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React</a:t>
              </a:r>
              <a:r>
                <a:rPr lang="es-CL" sz="2100" b="1" noProof="0" dirty="0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18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+ Server </a:t>
              </a:r>
              <a:r>
                <a:rPr lang="es-CL" sz="21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Components</a:t>
              </a: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 err="1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Leaflet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para mapas interactivos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Bootstrap 5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responsive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4726" y="3650922"/>
            <a:ext cx="675856" cy="675856"/>
            <a:chOff x="0" y="0"/>
            <a:chExt cx="178003" cy="1780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003" cy="178003"/>
            </a:xfrm>
            <a:custGeom>
              <a:avLst/>
              <a:gdLst/>
              <a:ahLst/>
              <a:cxnLst/>
              <a:rect l="l" t="t" r="r" b="b"/>
              <a:pathLst>
                <a:path w="178003" h="178003">
                  <a:moveTo>
                    <a:pt x="89002" y="0"/>
                  </a:moveTo>
                  <a:lnTo>
                    <a:pt x="89002" y="0"/>
                  </a:lnTo>
                  <a:cubicBezTo>
                    <a:pt x="112606" y="0"/>
                    <a:pt x="135244" y="9377"/>
                    <a:pt x="151935" y="26068"/>
                  </a:cubicBezTo>
                  <a:cubicBezTo>
                    <a:pt x="168626" y="42759"/>
                    <a:pt x="178003" y="65397"/>
                    <a:pt x="178003" y="89002"/>
                  </a:cubicBezTo>
                  <a:lnTo>
                    <a:pt x="178003" y="89002"/>
                  </a:lnTo>
                  <a:cubicBezTo>
                    <a:pt x="178003" y="112606"/>
                    <a:pt x="168626" y="135244"/>
                    <a:pt x="151935" y="151935"/>
                  </a:cubicBezTo>
                  <a:cubicBezTo>
                    <a:pt x="135244" y="168626"/>
                    <a:pt x="112606" y="178003"/>
                    <a:pt x="89002" y="178003"/>
                  </a:cubicBezTo>
                  <a:lnTo>
                    <a:pt x="89002" y="178003"/>
                  </a:lnTo>
                  <a:cubicBezTo>
                    <a:pt x="65397" y="178003"/>
                    <a:pt x="42759" y="168626"/>
                    <a:pt x="26068" y="151935"/>
                  </a:cubicBezTo>
                  <a:cubicBezTo>
                    <a:pt x="9377" y="135244"/>
                    <a:pt x="0" y="112606"/>
                    <a:pt x="0" y="89002"/>
                  </a:cubicBezTo>
                  <a:lnTo>
                    <a:pt x="0" y="89002"/>
                  </a:lnTo>
                  <a:cubicBezTo>
                    <a:pt x="0" y="65397"/>
                    <a:pt x="9377" y="42759"/>
                    <a:pt x="26068" y="26068"/>
                  </a:cubicBezTo>
                  <a:cubicBezTo>
                    <a:pt x="42759" y="9377"/>
                    <a:pt x="65397" y="0"/>
                    <a:pt x="89002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78003" cy="320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833776" y="4872789"/>
            <a:ext cx="0" cy="1685388"/>
          </a:xfrm>
          <a:prstGeom prst="line">
            <a:avLst/>
          </a:prstGeom>
          <a:ln w="381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13" name="Group 13"/>
          <p:cNvGrpSpPr/>
          <p:nvPr/>
        </p:nvGrpSpPr>
        <p:grpSpPr>
          <a:xfrm>
            <a:off x="6359877" y="3297620"/>
            <a:ext cx="5572973" cy="5343258"/>
            <a:chOff x="0" y="0"/>
            <a:chExt cx="1467779" cy="14072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7779" cy="1407278"/>
            </a:xfrm>
            <a:custGeom>
              <a:avLst/>
              <a:gdLst/>
              <a:ahLst/>
              <a:cxnLst/>
              <a:rect l="l" t="t" r="r" b="b"/>
              <a:pathLst>
                <a:path w="1467779" h="140727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1394775"/>
                  </a:lnTo>
                  <a:cubicBezTo>
                    <a:pt x="1467779" y="1398091"/>
                    <a:pt x="1466462" y="1401271"/>
                    <a:pt x="1464117" y="1403616"/>
                  </a:cubicBezTo>
                  <a:cubicBezTo>
                    <a:pt x="1461772" y="1405961"/>
                    <a:pt x="1458592" y="1407278"/>
                    <a:pt x="1455276" y="1407278"/>
                  </a:cubicBezTo>
                  <a:lnTo>
                    <a:pt x="12503" y="1407278"/>
                  </a:lnTo>
                  <a:cubicBezTo>
                    <a:pt x="9187" y="1407278"/>
                    <a:pt x="6007" y="1405961"/>
                    <a:pt x="3662" y="1403616"/>
                  </a:cubicBezTo>
                  <a:cubicBezTo>
                    <a:pt x="1317" y="1401271"/>
                    <a:pt x="0" y="1398091"/>
                    <a:pt x="0" y="1394775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E9E9E9"/>
            </a:solidFill>
            <a:ln w="38100" cap="sq">
              <a:solidFill>
                <a:srgbClr val="24566D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467779" cy="1407278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just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</a:t>
              </a:r>
              <a:r>
                <a:rPr lang="es-CL" sz="2100" noProof="0" dirty="0" err="1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Backend</a:t>
              </a:r>
              <a:endParaRPr lang="es-CL" sz="2100" noProof="0" dirty="0">
                <a:solidFill>
                  <a:srgbClr val="24566D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  <a:p>
              <a:pPr algn="just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</a:t>
              </a:r>
              <a:r>
                <a:rPr lang="es-CL" sz="19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APIs</a:t>
              </a:r>
              <a:r>
                <a:rPr lang="es-CL" sz="19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y lógica</a:t>
              </a:r>
            </a:p>
            <a:p>
              <a:pPr algn="l">
                <a:lnSpc>
                  <a:spcPts val="3570"/>
                </a:lnSpc>
              </a:pPr>
              <a:endParaRPr lang="es-CL" sz="19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API </a:t>
              </a:r>
              <a:r>
                <a:rPr lang="es-CL" sz="2100" b="1" noProof="0" dirty="0" err="1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Routes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+ Server </a:t>
              </a:r>
              <a:r>
                <a:rPr lang="es-CL" sz="21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Actions</a:t>
              </a: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Node.js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s-CL" sz="21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runtime</a:t>
              </a: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 err="1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jsPDF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generación documentos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 err="1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Webhooks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Telegram/WhatsApp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11502" y="3650922"/>
            <a:ext cx="675856" cy="675856"/>
            <a:chOff x="0" y="0"/>
            <a:chExt cx="178003" cy="1780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8003" cy="178003"/>
            </a:xfrm>
            <a:custGeom>
              <a:avLst/>
              <a:gdLst/>
              <a:ahLst/>
              <a:cxnLst/>
              <a:rect l="l" t="t" r="r" b="b"/>
              <a:pathLst>
                <a:path w="178003" h="178003">
                  <a:moveTo>
                    <a:pt x="89002" y="0"/>
                  </a:moveTo>
                  <a:lnTo>
                    <a:pt x="89002" y="0"/>
                  </a:lnTo>
                  <a:cubicBezTo>
                    <a:pt x="112606" y="0"/>
                    <a:pt x="135244" y="9377"/>
                    <a:pt x="151935" y="26068"/>
                  </a:cubicBezTo>
                  <a:cubicBezTo>
                    <a:pt x="168626" y="42759"/>
                    <a:pt x="178003" y="65397"/>
                    <a:pt x="178003" y="89002"/>
                  </a:cubicBezTo>
                  <a:lnTo>
                    <a:pt x="178003" y="89002"/>
                  </a:lnTo>
                  <a:cubicBezTo>
                    <a:pt x="178003" y="112606"/>
                    <a:pt x="168626" y="135244"/>
                    <a:pt x="151935" y="151935"/>
                  </a:cubicBezTo>
                  <a:cubicBezTo>
                    <a:pt x="135244" y="168626"/>
                    <a:pt x="112606" y="178003"/>
                    <a:pt x="89002" y="178003"/>
                  </a:cubicBezTo>
                  <a:lnTo>
                    <a:pt x="89002" y="178003"/>
                  </a:lnTo>
                  <a:cubicBezTo>
                    <a:pt x="65397" y="178003"/>
                    <a:pt x="42759" y="168626"/>
                    <a:pt x="26068" y="151935"/>
                  </a:cubicBezTo>
                  <a:cubicBezTo>
                    <a:pt x="9377" y="135244"/>
                    <a:pt x="0" y="112606"/>
                    <a:pt x="0" y="89002"/>
                  </a:cubicBezTo>
                  <a:lnTo>
                    <a:pt x="0" y="89002"/>
                  </a:lnTo>
                  <a:cubicBezTo>
                    <a:pt x="0" y="65397"/>
                    <a:pt x="9377" y="42759"/>
                    <a:pt x="26068" y="26068"/>
                  </a:cubicBezTo>
                  <a:cubicBezTo>
                    <a:pt x="42759" y="9377"/>
                    <a:pt x="65397" y="0"/>
                    <a:pt x="89002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78003" cy="320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19" name="AutoShape 19"/>
          <p:cNvSpPr/>
          <p:nvPr/>
        </p:nvSpPr>
        <p:spPr>
          <a:xfrm>
            <a:off x="6630552" y="4872789"/>
            <a:ext cx="0" cy="1685388"/>
          </a:xfrm>
          <a:prstGeom prst="line">
            <a:avLst/>
          </a:prstGeom>
          <a:ln w="381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20" name="Group 20"/>
          <p:cNvGrpSpPr/>
          <p:nvPr/>
        </p:nvGrpSpPr>
        <p:grpSpPr>
          <a:xfrm>
            <a:off x="12151925" y="3297620"/>
            <a:ext cx="5572973" cy="5343258"/>
            <a:chOff x="0" y="0"/>
            <a:chExt cx="1467779" cy="140727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7779" cy="1407278"/>
            </a:xfrm>
            <a:custGeom>
              <a:avLst/>
              <a:gdLst/>
              <a:ahLst/>
              <a:cxnLst/>
              <a:rect l="l" t="t" r="r" b="b"/>
              <a:pathLst>
                <a:path w="1467779" h="1407278">
                  <a:moveTo>
                    <a:pt x="12503" y="0"/>
                  </a:moveTo>
                  <a:lnTo>
                    <a:pt x="1455276" y="0"/>
                  </a:lnTo>
                  <a:cubicBezTo>
                    <a:pt x="1458592" y="0"/>
                    <a:pt x="1461772" y="1317"/>
                    <a:pt x="1464117" y="3662"/>
                  </a:cubicBezTo>
                  <a:cubicBezTo>
                    <a:pt x="1466462" y="6007"/>
                    <a:pt x="1467779" y="9187"/>
                    <a:pt x="1467779" y="12503"/>
                  </a:cubicBezTo>
                  <a:lnTo>
                    <a:pt x="1467779" y="1394775"/>
                  </a:lnTo>
                  <a:cubicBezTo>
                    <a:pt x="1467779" y="1398091"/>
                    <a:pt x="1466462" y="1401271"/>
                    <a:pt x="1464117" y="1403616"/>
                  </a:cubicBezTo>
                  <a:cubicBezTo>
                    <a:pt x="1461772" y="1405961"/>
                    <a:pt x="1458592" y="1407278"/>
                    <a:pt x="1455276" y="1407278"/>
                  </a:cubicBezTo>
                  <a:lnTo>
                    <a:pt x="12503" y="1407278"/>
                  </a:lnTo>
                  <a:cubicBezTo>
                    <a:pt x="9187" y="1407278"/>
                    <a:pt x="6007" y="1405961"/>
                    <a:pt x="3662" y="1403616"/>
                  </a:cubicBezTo>
                  <a:cubicBezTo>
                    <a:pt x="1317" y="1401271"/>
                    <a:pt x="0" y="1398091"/>
                    <a:pt x="0" y="1394775"/>
                  </a:cubicBezTo>
                  <a:lnTo>
                    <a:pt x="0" y="12503"/>
                  </a:lnTo>
                  <a:cubicBezTo>
                    <a:pt x="0" y="9187"/>
                    <a:pt x="1317" y="6007"/>
                    <a:pt x="3662" y="3662"/>
                  </a:cubicBezTo>
                  <a:cubicBezTo>
                    <a:pt x="6007" y="1317"/>
                    <a:pt x="9187" y="0"/>
                    <a:pt x="12503" y="0"/>
                  </a:cubicBezTo>
                  <a:close/>
                </a:path>
              </a:pathLst>
            </a:custGeom>
            <a:solidFill>
              <a:srgbClr val="E9E9E9"/>
            </a:solidFill>
            <a:ln w="38100" cap="sq">
              <a:solidFill>
                <a:srgbClr val="24566D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467779" cy="1407278"/>
            </a:xfrm>
            <a:prstGeom prst="rect">
              <a:avLst/>
            </a:prstGeom>
          </p:spPr>
          <p:txBody>
            <a:bodyPr lIns="254000" tIns="254000" rIns="254000" bIns="254000" rtlCol="0" anchor="t"/>
            <a:lstStyle/>
            <a:p>
              <a:pPr algn="just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         Datos</a:t>
              </a:r>
            </a:p>
            <a:p>
              <a:pPr algn="just">
                <a:lnSpc>
                  <a:spcPts val="3230"/>
                </a:lnSpc>
              </a:pPr>
              <a:r>
                <a:rPr lang="es-CL" sz="19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Persistencia y seguridad</a:t>
              </a:r>
            </a:p>
            <a:p>
              <a:pPr algn="l">
                <a:lnSpc>
                  <a:spcPts val="3570"/>
                </a:lnSpc>
              </a:pPr>
              <a:endParaRPr lang="es-CL" sz="19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 err="1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Supabase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+ PostgreSQL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RLS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seguridad granular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JWT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autenticación</a:t>
              </a:r>
            </a:p>
            <a:p>
              <a:pPr algn="l">
                <a:lnSpc>
                  <a:spcPts val="3570"/>
                </a:lnSpc>
              </a:pP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s-CL" sz="2100" b="1" noProof="0" dirty="0" err="1">
                  <a:solidFill>
                    <a:srgbClr val="245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Vercel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s-CL" sz="2100" noProof="0" dirty="0" err="1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deploy</a:t>
              </a:r>
              <a:r>
                <a:rPr lang="es-CL" sz="2100" noProof="0" dirty="0">
                  <a:solidFill>
                    <a:srgbClr val="24566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CDN global</a:t>
              </a: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570"/>
                </a:lnSpc>
              </a:pPr>
              <a:endParaRPr lang="es-CL" sz="2100" noProof="0" dirty="0">
                <a:solidFill>
                  <a:srgbClr val="24566D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403550" y="3650922"/>
            <a:ext cx="675856" cy="675856"/>
            <a:chOff x="0" y="0"/>
            <a:chExt cx="178003" cy="17800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8003" cy="178003"/>
            </a:xfrm>
            <a:custGeom>
              <a:avLst/>
              <a:gdLst/>
              <a:ahLst/>
              <a:cxnLst/>
              <a:rect l="l" t="t" r="r" b="b"/>
              <a:pathLst>
                <a:path w="178003" h="178003">
                  <a:moveTo>
                    <a:pt x="89002" y="0"/>
                  </a:moveTo>
                  <a:lnTo>
                    <a:pt x="89002" y="0"/>
                  </a:lnTo>
                  <a:cubicBezTo>
                    <a:pt x="112606" y="0"/>
                    <a:pt x="135244" y="9377"/>
                    <a:pt x="151935" y="26068"/>
                  </a:cubicBezTo>
                  <a:cubicBezTo>
                    <a:pt x="168626" y="42759"/>
                    <a:pt x="178003" y="65397"/>
                    <a:pt x="178003" y="89002"/>
                  </a:cubicBezTo>
                  <a:lnTo>
                    <a:pt x="178003" y="89002"/>
                  </a:lnTo>
                  <a:cubicBezTo>
                    <a:pt x="178003" y="112606"/>
                    <a:pt x="168626" y="135244"/>
                    <a:pt x="151935" y="151935"/>
                  </a:cubicBezTo>
                  <a:cubicBezTo>
                    <a:pt x="135244" y="168626"/>
                    <a:pt x="112606" y="178003"/>
                    <a:pt x="89002" y="178003"/>
                  </a:cubicBezTo>
                  <a:lnTo>
                    <a:pt x="89002" y="178003"/>
                  </a:lnTo>
                  <a:cubicBezTo>
                    <a:pt x="65397" y="178003"/>
                    <a:pt x="42759" y="168626"/>
                    <a:pt x="26068" y="151935"/>
                  </a:cubicBezTo>
                  <a:cubicBezTo>
                    <a:pt x="9377" y="135244"/>
                    <a:pt x="0" y="112606"/>
                    <a:pt x="0" y="89002"/>
                  </a:cubicBezTo>
                  <a:lnTo>
                    <a:pt x="0" y="89002"/>
                  </a:lnTo>
                  <a:cubicBezTo>
                    <a:pt x="0" y="65397"/>
                    <a:pt x="9377" y="42759"/>
                    <a:pt x="26068" y="26068"/>
                  </a:cubicBezTo>
                  <a:cubicBezTo>
                    <a:pt x="42759" y="9377"/>
                    <a:pt x="65397" y="0"/>
                    <a:pt x="89002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42875"/>
              <a:ext cx="178003" cy="320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0"/>
                </a:lnSpc>
              </a:pPr>
              <a:endParaRPr lang="es-CL" noProof="0" dirty="0"/>
            </a:p>
          </p:txBody>
        </p:sp>
      </p:grpSp>
      <p:sp>
        <p:nvSpPr>
          <p:cNvPr id="26" name="AutoShape 26"/>
          <p:cNvSpPr/>
          <p:nvPr/>
        </p:nvSpPr>
        <p:spPr>
          <a:xfrm>
            <a:off x="12422600" y="4872789"/>
            <a:ext cx="0" cy="1685388"/>
          </a:xfrm>
          <a:prstGeom prst="line">
            <a:avLst/>
          </a:prstGeom>
          <a:ln w="38100" cap="flat">
            <a:solidFill>
              <a:srgbClr val="2456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Freeform 27"/>
          <p:cNvSpPr/>
          <p:nvPr/>
        </p:nvSpPr>
        <p:spPr>
          <a:xfrm>
            <a:off x="935691" y="3763433"/>
            <a:ext cx="433927" cy="450833"/>
          </a:xfrm>
          <a:custGeom>
            <a:avLst/>
            <a:gdLst/>
            <a:ahLst/>
            <a:cxnLst/>
            <a:rect l="l" t="t" r="r" b="b"/>
            <a:pathLst>
              <a:path w="433927" h="450833">
                <a:moveTo>
                  <a:pt x="0" y="0"/>
                </a:moveTo>
                <a:lnTo>
                  <a:pt x="433927" y="0"/>
                </a:lnTo>
                <a:lnTo>
                  <a:pt x="433927" y="450833"/>
                </a:lnTo>
                <a:lnTo>
                  <a:pt x="0" y="450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Freeform 28"/>
          <p:cNvSpPr/>
          <p:nvPr/>
        </p:nvSpPr>
        <p:spPr>
          <a:xfrm>
            <a:off x="6695571" y="3774339"/>
            <a:ext cx="507718" cy="429022"/>
          </a:xfrm>
          <a:custGeom>
            <a:avLst/>
            <a:gdLst/>
            <a:ahLst/>
            <a:cxnLst/>
            <a:rect l="l" t="t" r="r" b="b"/>
            <a:pathLst>
              <a:path w="507718" h="429022">
                <a:moveTo>
                  <a:pt x="0" y="0"/>
                </a:moveTo>
                <a:lnTo>
                  <a:pt x="507718" y="0"/>
                </a:lnTo>
                <a:lnTo>
                  <a:pt x="507718" y="429022"/>
                </a:lnTo>
                <a:lnTo>
                  <a:pt x="0" y="429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Freeform 29"/>
          <p:cNvSpPr/>
          <p:nvPr/>
        </p:nvSpPr>
        <p:spPr>
          <a:xfrm>
            <a:off x="12502904" y="3774339"/>
            <a:ext cx="477148" cy="452310"/>
          </a:xfrm>
          <a:custGeom>
            <a:avLst/>
            <a:gdLst/>
            <a:ahLst/>
            <a:cxnLst/>
            <a:rect l="l" t="t" r="r" b="b"/>
            <a:pathLst>
              <a:path w="477148" h="452310">
                <a:moveTo>
                  <a:pt x="0" y="0"/>
                </a:moveTo>
                <a:lnTo>
                  <a:pt x="477148" y="0"/>
                </a:lnTo>
                <a:lnTo>
                  <a:pt x="477148" y="452310"/>
                </a:lnTo>
                <a:lnTo>
                  <a:pt x="0" y="4523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30" name="Group 30"/>
          <p:cNvGrpSpPr/>
          <p:nvPr/>
        </p:nvGrpSpPr>
        <p:grpSpPr>
          <a:xfrm>
            <a:off x="935691" y="9564800"/>
            <a:ext cx="1829802" cy="523612"/>
            <a:chOff x="0" y="-1"/>
            <a:chExt cx="481923" cy="13790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923" cy="137905"/>
            </a:xfrm>
            <a:custGeom>
              <a:avLst/>
              <a:gdLst/>
              <a:ahLst/>
              <a:cxnLst/>
              <a:rect l="l" t="t" r="r" b="b"/>
              <a:pathLst>
                <a:path w="481923" h="137905">
                  <a:moveTo>
                    <a:pt x="68953" y="0"/>
                  </a:moveTo>
                  <a:lnTo>
                    <a:pt x="412971" y="0"/>
                  </a:lnTo>
                  <a:cubicBezTo>
                    <a:pt x="431258" y="0"/>
                    <a:pt x="448796" y="7265"/>
                    <a:pt x="461727" y="20196"/>
                  </a:cubicBezTo>
                  <a:cubicBezTo>
                    <a:pt x="474659" y="33127"/>
                    <a:pt x="481923" y="50665"/>
                    <a:pt x="481923" y="68953"/>
                  </a:cubicBezTo>
                  <a:lnTo>
                    <a:pt x="481923" y="68953"/>
                  </a:lnTo>
                  <a:cubicBezTo>
                    <a:pt x="481923" y="107034"/>
                    <a:pt x="451052" y="137905"/>
                    <a:pt x="412971" y="137905"/>
                  </a:cubicBezTo>
                  <a:lnTo>
                    <a:pt x="68953" y="137905"/>
                  </a:lnTo>
                  <a:cubicBezTo>
                    <a:pt x="30871" y="137905"/>
                    <a:pt x="0" y="107034"/>
                    <a:pt x="0" y="68953"/>
                  </a:cubicBezTo>
                  <a:lnTo>
                    <a:pt x="0" y="68953"/>
                  </a:lnTo>
                  <a:cubicBezTo>
                    <a:pt x="0" y="30871"/>
                    <a:pt x="30871" y="0"/>
                    <a:pt x="68953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"/>
              <a:ext cx="481923" cy="107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570"/>
                </a:lnSpc>
              </a:pPr>
              <a:r>
                <a:rPr lang="es-CL" sz="2000" noProof="0" dirty="0" err="1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SendGrid</a:t>
              </a:r>
              <a:endParaRPr lang="es-CL" sz="2000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946467" y="9564800"/>
            <a:ext cx="1786051" cy="523608"/>
            <a:chOff x="-1225" y="-1"/>
            <a:chExt cx="470400" cy="1379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9175" cy="137905"/>
            </a:xfrm>
            <a:custGeom>
              <a:avLst/>
              <a:gdLst/>
              <a:ahLst/>
              <a:cxnLst/>
              <a:rect l="l" t="t" r="r" b="b"/>
              <a:pathLst>
                <a:path w="469175" h="137905">
                  <a:moveTo>
                    <a:pt x="68953" y="0"/>
                  </a:moveTo>
                  <a:lnTo>
                    <a:pt x="400223" y="0"/>
                  </a:lnTo>
                  <a:cubicBezTo>
                    <a:pt x="438304" y="0"/>
                    <a:pt x="469175" y="30871"/>
                    <a:pt x="469175" y="68953"/>
                  </a:cubicBezTo>
                  <a:lnTo>
                    <a:pt x="469175" y="68953"/>
                  </a:lnTo>
                  <a:cubicBezTo>
                    <a:pt x="469175" y="87240"/>
                    <a:pt x="461911" y="104778"/>
                    <a:pt x="448979" y="117709"/>
                  </a:cubicBezTo>
                  <a:cubicBezTo>
                    <a:pt x="436048" y="130640"/>
                    <a:pt x="418510" y="137905"/>
                    <a:pt x="400223" y="137905"/>
                  </a:cubicBezTo>
                  <a:lnTo>
                    <a:pt x="68953" y="137905"/>
                  </a:lnTo>
                  <a:cubicBezTo>
                    <a:pt x="30871" y="137905"/>
                    <a:pt x="0" y="107034"/>
                    <a:pt x="0" y="68953"/>
                  </a:cubicBezTo>
                  <a:lnTo>
                    <a:pt x="0" y="68953"/>
                  </a:lnTo>
                  <a:cubicBezTo>
                    <a:pt x="0" y="30871"/>
                    <a:pt x="30871" y="0"/>
                    <a:pt x="68953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-1225" y="-1"/>
              <a:ext cx="470400" cy="107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570"/>
                </a:lnSpc>
              </a:pPr>
              <a:r>
                <a:rPr lang="es-CL" sz="20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Telegram</a:t>
              </a:r>
              <a:endParaRPr lang="es-CL" sz="2100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13492" y="9564796"/>
            <a:ext cx="2557224" cy="523616"/>
            <a:chOff x="0" y="-2"/>
            <a:chExt cx="673508" cy="13790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3508" cy="137905"/>
            </a:xfrm>
            <a:custGeom>
              <a:avLst/>
              <a:gdLst/>
              <a:ahLst/>
              <a:cxnLst/>
              <a:rect l="l" t="t" r="r" b="b"/>
              <a:pathLst>
                <a:path w="673508" h="137905">
                  <a:moveTo>
                    <a:pt x="51467" y="0"/>
                  </a:moveTo>
                  <a:lnTo>
                    <a:pt x="622041" y="0"/>
                  </a:lnTo>
                  <a:cubicBezTo>
                    <a:pt x="650465" y="0"/>
                    <a:pt x="673508" y="23043"/>
                    <a:pt x="673508" y="51467"/>
                  </a:cubicBezTo>
                  <a:lnTo>
                    <a:pt x="673508" y="86438"/>
                  </a:lnTo>
                  <a:cubicBezTo>
                    <a:pt x="673508" y="114863"/>
                    <a:pt x="650465" y="137905"/>
                    <a:pt x="622041" y="137905"/>
                  </a:cubicBezTo>
                  <a:lnTo>
                    <a:pt x="51467" y="137905"/>
                  </a:lnTo>
                  <a:cubicBezTo>
                    <a:pt x="23043" y="137905"/>
                    <a:pt x="0" y="114863"/>
                    <a:pt x="0" y="86438"/>
                  </a:cubicBezTo>
                  <a:lnTo>
                    <a:pt x="0" y="51467"/>
                  </a:lnTo>
                  <a:cubicBezTo>
                    <a:pt x="0" y="23043"/>
                    <a:pt x="23043" y="0"/>
                    <a:pt x="51467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"/>
              <a:ext cx="673508" cy="109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570"/>
                </a:lnSpc>
              </a:pPr>
              <a:r>
                <a:rPr lang="es-CL" sz="20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WhatsApp API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51691" y="9564796"/>
            <a:ext cx="2089304" cy="523616"/>
            <a:chOff x="0" y="-2"/>
            <a:chExt cx="550269" cy="13790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50269" cy="137905"/>
            </a:xfrm>
            <a:custGeom>
              <a:avLst/>
              <a:gdLst/>
              <a:ahLst/>
              <a:cxnLst/>
              <a:rect l="l" t="t" r="r" b="b"/>
              <a:pathLst>
                <a:path w="550269" h="137905">
                  <a:moveTo>
                    <a:pt x="62994" y="0"/>
                  </a:moveTo>
                  <a:lnTo>
                    <a:pt x="487276" y="0"/>
                  </a:lnTo>
                  <a:cubicBezTo>
                    <a:pt x="503983" y="0"/>
                    <a:pt x="520005" y="6637"/>
                    <a:pt x="531819" y="18450"/>
                  </a:cubicBezTo>
                  <a:cubicBezTo>
                    <a:pt x="543633" y="30264"/>
                    <a:pt x="550269" y="46287"/>
                    <a:pt x="550269" y="62994"/>
                  </a:cubicBezTo>
                  <a:lnTo>
                    <a:pt x="550269" y="74912"/>
                  </a:lnTo>
                  <a:cubicBezTo>
                    <a:pt x="550269" y="109702"/>
                    <a:pt x="522066" y="137905"/>
                    <a:pt x="487276" y="137905"/>
                  </a:cubicBezTo>
                  <a:lnTo>
                    <a:pt x="62994" y="137905"/>
                  </a:lnTo>
                  <a:cubicBezTo>
                    <a:pt x="28203" y="137905"/>
                    <a:pt x="0" y="109702"/>
                    <a:pt x="0" y="74912"/>
                  </a:cubicBezTo>
                  <a:lnTo>
                    <a:pt x="0" y="62994"/>
                  </a:lnTo>
                  <a:cubicBezTo>
                    <a:pt x="0" y="28203"/>
                    <a:pt x="28203" y="0"/>
                    <a:pt x="62994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"/>
              <a:ext cx="550269" cy="101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570"/>
                </a:lnSpc>
              </a:pPr>
              <a:r>
                <a:rPr lang="es-CL" sz="2000" noProof="0" dirty="0" err="1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OpenAI</a:t>
              </a:r>
              <a:r>
                <a:rPr lang="es-CL" sz="2000" noProof="0" dirty="0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 API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21970" y="9564793"/>
            <a:ext cx="1716144" cy="523619"/>
            <a:chOff x="0" y="-3"/>
            <a:chExt cx="451989" cy="13790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51989" cy="137905"/>
            </a:xfrm>
            <a:custGeom>
              <a:avLst/>
              <a:gdLst/>
              <a:ahLst/>
              <a:cxnLst/>
              <a:rect l="l" t="t" r="r" b="b"/>
              <a:pathLst>
                <a:path w="451989" h="137905">
                  <a:moveTo>
                    <a:pt x="68953" y="0"/>
                  </a:moveTo>
                  <a:lnTo>
                    <a:pt x="383036" y="0"/>
                  </a:lnTo>
                  <a:cubicBezTo>
                    <a:pt x="401323" y="0"/>
                    <a:pt x="418862" y="7265"/>
                    <a:pt x="431793" y="20196"/>
                  </a:cubicBezTo>
                  <a:cubicBezTo>
                    <a:pt x="444724" y="33127"/>
                    <a:pt x="451989" y="50665"/>
                    <a:pt x="451989" y="68953"/>
                  </a:cubicBezTo>
                  <a:lnTo>
                    <a:pt x="451989" y="68953"/>
                  </a:lnTo>
                  <a:cubicBezTo>
                    <a:pt x="451989" y="107034"/>
                    <a:pt x="421118" y="137905"/>
                    <a:pt x="383036" y="137905"/>
                  </a:cubicBezTo>
                  <a:lnTo>
                    <a:pt x="68953" y="137905"/>
                  </a:lnTo>
                  <a:cubicBezTo>
                    <a:pt x="30871" y="137905"/>
                    <a:pt x="0" y="107034"/>
                    <a:pt x="0" y="68953"/>
                  </a:cubicBezTo>
                  <a:lnTo>
                    <a:pt x="0" y="68953"/>
                  </a:lnTo>
                  <a:cubicBezTo>
                    <a:pt x="0" y="30871"/>
                    <a:pt x="30871" y="0"/>
                    <a:pt x="68953" y="0"/>
                  </a:cubicBezTo>
                  <a:close/>
                </a:path>
              </a:pathLst>
            </a:custGeom>
            <a:solidFill>
              <a:srgbClr val="24566D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"/>
              <a:ext cx="451989" cy="107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570"/>
                </a:lnSpc>
              </a:pPr>
              <a:r>
                <a:rPr lang="es-CL" sz="2000" noProof="0" dirty="0" err="1">
                  <a:solidFill>
                    <a:srgbClr val="FFFFFF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Turnstile</a:t>
              </a:r>
              <a:endParaRPr lang="es-CL" sz="2100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50423" y="6802443"/>
            <a:ext cx="3136783" cy="1568391"/>
            <a:chOff x="0" y="0"/>
            <a:chExt cx="812800" cy="406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750" b="-3750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77972" y="6802443"/>
            <a:ext cx="3136783" cy="1568391"/>
            <a:chOff x="0" y="0"/>
            <a:chExt cx="812800" cy="406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2875" b="-12874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370020" y="6802443"/>
            <a:ext cx="3136783" cy="1568391"/>
            <a:chOff x="0" y="0"/>
            <a:chExt cx="812800" cy="406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5000" b="-5000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51" name="Freeform 51"/>
          <p:cNvSpPr/>
          <p:nvPr/>
        </p:nvSpPr>
        <p:spPr>
          <a:xfrm>
            <a:off x="3026064" y="9703729"/>
            <a:ext cx="288276" cy="245755"/>
          </a:xfrm>
          <a:custGeom>
            <a:avLst/>
            <a:gdLst/>
            <a:ahLst/>
            <a:cxnLst/>
            <a:rect l="l" t="t" r="r" b="b"/>
            <a:pathLst>
              <a:path w="288276" h="245755">
                <a:moveTo>
                  <a:pt x="0" y="0"/>
                </a:moveTo>
                <a:lnTo>
                  <a:pt x="288275" y="0"/>
                </a:lnTo>
                <a:lnTo>
                  <a:pt x="288275" y="245755"/>
                </a:lnTo>
                <a:lnTo>
                  <a:pt x="0" y="2457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2" name="Freeform 52"/>
          <p:cNvSpPr/>
          <p:nvPr/>
        </p:nvSpPr>
        <p:spPr>
          <a:xfrm>
            <a:off x="1078698" y="9681148"/>
            <a:ext cx="290920" cy="290920"/>
          </a:xfrm>
          <a:custGeom>
            <a:avLst/>
            <a:gdLst/>
            <a:ahLst/>
            <a:cxnLst/>
            <a:rect l="l" t="t" r="r" b="b"/>
            <a:pathLst>
              <a:path w="290920" h="290920">
                <a:moveTo>
                  <a:pt x="0" y="0"/>
                </a:moveTo>
                <a:lnTo>
                  <a:pt x="290920" y="0"/>
                </a:lnTo>
                <a:lnTo>
                  <a:pt x="290920" y="290920"/>
                </a:lnTo>
                <a:lnTo>
                  <a:pt x="0" y="29092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3" name="Freeform 53"/>
          <p:cNvSpPr/>
          <p:nvPr/>
        </p:nvSpPr>
        <p:spPr>
          <a:xfrm>
            <a:off x="5103723" y="9689630"/>
            <a:ext cx="289334" cy="290920"/>
          </a:xfrm>
          <a:custGeom>
            <a:avLst/>
            <a:gdLst/>
            <a:ahLst/>
            <a:cxnLst/>
            <a:rect l="l" t="t" r="r" b="b"/>
            <a:pathLst>
              <a:path w="289334" h="290920">
                <a:moveTo>
                  <a:pt x="0" y="0"/>
                </a:moveTo>
                <a:lnTo>
                  <a:pt x="289334" y="0"/>
                </a:lnTo>
                <a:lnTo>
                  <a:pt x="289334" y="290920"/>
                </a:lnTo>
                <a:lnTo>
                  <a:pt x="0" y="2909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4" name="Freeform 54"/>
          <p:cNvSpPr/>
          <p:nvPr/>
        </p:nvSpPr>
        <p:spPr>
          <a:xfrm>
            <a:off x="7809485" y="9689630"/>
            <a:ext cx="290920" cy="290920"/>
          </a:xfrm>
          <a:custGeom>
            <a:avLst/>
            <a:gdLst/>
            <a:ahLst/>
            <a:cxnLst/>
            <a:rect l="l" t="t" r="r" b="b"/>
            <a:pathLst>
              <a:path w="290920" h="290920">
                <a:moveTo>
                  <a:pt x="0" y="0"/>
                </a:moveTo>
                <a:lnTo>
                  <a:pt x="290921" y="0"/>
                </a:lnTo>
                <a:lnTo>
                  <a:pt x="290921" y="290921"/>
                </a:lnTo>
                <a:lnTo>
                  <a:pt x="0" y="29092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5" name="Freeform 55"/>
          <p:cNvSpPr/>
          <p:nvPr/>
        </p:nvSpPr>
        <p:spPr>
          <a:xfrm>
            <a:off x="10058400" y="9676664"/>
            <a:ext cx="299883" cy="299883"/>
          </a:xfrm>
          <a:custGeom>
            <a:avLst/>
            <a:gdLst/>
            <a:ahLst/>
            <a:cxnLst/>
            <a:rect l="l" t="t" r="r" b="b"/>
            <a:pathLst>
              <a:path w="299883" h="299883">
                <a:moveTo>
                  <a:pt x="0" y="0"/>
                </a:moveTo>
                <a:lnTo>
                  <a:pt x="299884" y="0"/>
                </a:lnTo>
                <a:lnTo>
                  <a:pt x="299884" y="299883"/>
                </a:lnTo>
                <a:lnTo>
                  <a:pt x="0" y="29988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56" name="TextBox 56"/>
          <p:cNvSpPr txBox="1"/>
          <p:nvPr/>
        </p:nvSpPr>
        <p:spPr>
          <a:xfrm>
            <a:off x="514350" y="283208"/>
            <a:ext cx="8545713" cy="112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00"/>
              </a:lnSpc>
              <a:spcBef>
                <a:spcPct val="0"/>
              </a:spcBef>
            </a:pPr>
            <a:r>
              <a:rPr lang="es-CL" sz="7100" spc="-142" noProof="0" dirty="0" err="1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Stack</a:t>
            </a:r>
            <a:r>
              <a:rPr lang="es-CL" sz="7100" spc="-142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 tecnológico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63101" y="2099666"/>
            <a:ext cx="6218699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s-CL" sz="2100" noProof="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Stack</a:t>
            </a:r>
            <a:r>
              <a:rPr lang="es-CL" sz="2100" noProof="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tecnológico del sistema de gestión vecinal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3101" y="9005888"/>
            <a:ext cx="3627899" cy="415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s-CL" sz="2100" noProof="0" dirty="0">
                <a:solidFill>
                  <a:srgbClr val="2E2E2E"/>
                </a:solidFill>
                <a:latin typeface="Canva Sans"/>
                <a:ea typeface="Canva Sans"/>
                <a:cs typeface="Canva Sans"/>
                <a:sym typeface="Canva Sans"/>
              </a:rPr>
              <a:t>INTEGRACIONES EXTERNAS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64A66">
                <a:alpha val="100000"/>
              </a:srgbClr>
            </a:gs>
            <a:gs pos="100000">
              <a:srgbClr val="1C6D73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57999"/>
            <a:ext cx="16230600" cy="1589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77"/>
              </a:lnSpc>
              <a:spcBef>
                <a:spcPct val="0"/>
              </a:spcBef>
            </a:pPr>
            <a:r>
              <a:rPr lang="es-CL" sz="10077" spc="-201" noProof="0" dirty="0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Resultado Final</a:t>
            </a:r>
          </a:p>
        </p:txBody>
      </p:sp>
      <p:sp>
        <p:nvSpPr>
          <p:cNvPr id="3" name="Freeform 3"/>
          <p:cNvSpPr/>
          <p:nvPr/>
        </p:nvSpPr>
        <p:spPr>
          <a:xfrm>
            <a:off x="16771265" y="230197"/>
            <a:ext cx="976069" cy="976069"/>
          </a:xfrm>
          <a:custGeom>
            <a:avLst/>
            <a:gdLst/>
            <a:ahLst/>
            <a:cxnLst/>
            <a:rect l="l" t="t" r="r" b="b"/>
            <a:pathLst>
              <a:path w="976069" h="976069">
                <a:moveTo>
                  <a:pt x="0" y="0"/>
                </a:moveTo>
                <a:lnTo>
                  <a:pt x="976070" y="0"/>
                </a:lnTo>
                <a:lnTo>
                  <a:pt x="976070" y="976069"/>
                </a:lnTo>
                <a:lnTo>
                  <a:pt x="0" y="976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DC3B551-D71A-3B97-A7C3-61EC45FB2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281" y="3238500"/>
            <a:ext cx="7335520" cy="4182971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811374" y="2864631"/>
            <a:ext cx="8002516" cy="6426510"/>
            <a:chOff x="0" y="0"/>
            <a:chExt cx="7467600" cy="59969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  <p:pic>
        <p:nvPicPr>
          <p:cNvPr id="20" name="Imagen 19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D70F8CAC-F15A-F2B1-8ABD-2BBD06ACAC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959" y="3030876"/>
            <a:ext cx="2845941" cy="6056768"/>
          </a:xfrm>
          <a:prstGeom prst="rect">
            <a:avLst/>
          </a:prstGeom>
        </p:spPr>
      </p:pic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268277" y="2833151"/>
            <a:ext cx="3247203" cy="6423575"/>
            <a:chOff x="0" y="0"/>
            <a:chExt cx="2620010" cy="5182870"/>
          </a:xfrm>
        </p:grpSpPr>
        <p:sp>
          <p:nvSpPr>
            <p:cNvPr id="10" name="Freeform 1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CL" noProof="0" dirty="0"/>
            </a:p>
          </p:txBody>
        </p:sp>
      </p:grp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764</Words>
  <Application>Microsoft Office PowerPoint</Application>
  <PresentationFormat>Personalizado</PresentationFormat>
  <Paragraphs>192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Heading Now 71-78 Bold</vt:lpstr>
      <vt:lpstr>Canva Sans</vt:lpstr>
      <vt:lpstr>Heading Now 71-78</vt:lpstr>
      <vt:lpstr>Canva Sans Bold</vt:lpstr>
      <vt:lpstr>Canva Sans Italics</vt:lpstr>
      <vt:lpstr>Calibri</vt:lpstr>
      <vt:lpstr>Arial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unidades vecinales</dc:title>
  <cp:lastModifiedBy>PATRICIO OMAR INFANTE OGAZ</cp:lastModifiedBy>
  <cp:revision>2</cp:revision>
  <dcterms:created xsi:type="dcterms:W3CDTF">2006-08-16T00:00:00Z</dcterms:created>
  <dcterms:modified xsi:type="dcterms:W3CDTF">2025-11-29T02:23:21Z</dcterms:modified>
  <dc:identifier>DAG4afEVDaE</dc:identifier>
</cp:coreProperties>
</file>